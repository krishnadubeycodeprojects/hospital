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62" r:id="rId4"/>
    <p:sldId id="259" r:id="rId5"/>
    <p:sldId id="263" r:id="rId6"/>
    <p:sldId id="264" r:id="rId7"/>
    <p:sldId id="261" r:id="rId8"/>
  </p:sldIdLst>
  <p:sldSz cx="9144000" cy="5143500" type="screen16x9"/>
  <p:notesSz cx="6858000" cy="9144000"/>
  <p:embeddedFontLst>
    <p:embeddedFont>
      <p:font typeface="Garamond" panose="02020404030301010803" pitchFamily="18" charset="0"/>
      <p:regular r:id="rId10"/>
      <p:bold r:id="rId11"/>
      <p:italic r:id="rId12"/>
    </p:embeddedFont>
    <p:embeddedFont>
      <p:font typeface="Lexend" panose="020B0604020202020204" charset="0"/>
      <p:regular r:id="rId13"/>
      <p:bold r:id="rId14"/>
    </p:embeddedFont>
    <p:embeddedFont>
      <p:font typeface="Oswald" panose="00000500000000000000" pitchFamily="2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894" y="102"/>
      </p:cViewPr>
      <p:guideLst>
        <p:guide orient="horz" pos="16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f9d078456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7f9d078456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f9d078456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6" name="Google Shape;166;g37f9d078456_2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7f9d078456_2_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f9d078456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6" name="Google Shape;166;g37f9d078456_2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7f9d078456_2_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f9d078456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8" name="Google Shape;178;g37f9d078456_2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7f9d078456_2_1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f9d078456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0" name="Google Shape;190;g37f9d078456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7f9d078456_2_1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457201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685455" y="-1406723"/>
            <a:ext cx="377309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L="914400" marR="0" lvl="1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–"/>
              <a:defRPr sz="21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–"/>
              <a:defRPr sz="15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»"/>
              <a:defRPr sz="1500" b="0" i="0" u="none" strike="noStrike" cap="none">
                <a:solidFill>
                  <a:schemeClr val="dk1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143000" y="0"/>
            <a:ext cx="685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4242585" y="638641"/>
            <a:ext cx="3478954" cy="3866225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/>
          <a:srcRect r="59916"/>
          <a:stretch>
            <a:fillRect/>
          </a:stretch>
        </p:blipFill>
        <p:spPr>
          <a:xfrm>
            <a:off x="5141168" y="1286911"/>
            <a:ext cx="2402632" cy="25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>
            <a:spLocks noGrp="1"/>
          </p:cNvSpPr>
          <p:nvPr>
            <p:ph type="subTitle" idx="1"/>
          </p:nvPr>
        </p:nvSpPr>
        <p:spPr>
          <a:xfrm>
            <a:off x="934264" y="486461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 PAGE</a:t>
            </a:r>
            <a:endParaRPr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3" name="Google Shape;133;p25"/>
          <p:cNvSpPr txBox="1">
            <a:spLocks noGrp="1"/>
          </p:cNvSpPr>
          <p:nvPr>
            <p:ph type="ctrTitle"/>
          </p:nvPr>
        </p:nvSpPr>
        <p:spPr>
          <a:xfrm>
            <a:off x="248464" y="-395068"/>
            <a:ext cx="7473075" cy="155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chemeClr val="dk2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SMART INDIA HACKATHON 202</a:t>
            </a:r>
            <a:r>
              <a:rPr lang="en-US" altLang="en-GB" sz="3000" b="1" dirty="0">
                <a:solidFill>
                  <a:schemeClr val="dk2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5</a:t>
            </a:r>
          </a:p>
        </p:txBody>
      </p:sp>
      <p:sp>
        <p:nvSpPr>
          <p:cNvPr id="134" name="Google Shape;134;p25"/>
          <p:cNvSpPr txBox="1"/>
          <p:nvPr/>
        </p:nvSpPr>
        <p:spPr>
          <a:xfrm>
            <a:off x="190680" y="1044258"/>
            <a:ext cx="4443413" cy="409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15900" marR="0" lvl="0" indent="-215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GB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 ID –</a:t>
            </a:r>
            <a:r>
              <a:rPr lang="en-US" altLang="en-GB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SIH25031</a:t>
            </a:r>
            <a:endParaRPr sz="1100" dirty="0"/>
          </a:p>
          <a:p>
            <a:pPr marL="215900" marR="0" lvl="0" indent="-215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GB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 Title-</a:t>
            </a:r>
            <a:r>
              <a:rPr lang="en-US" altLang="en-GB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Crowdsourced Civic Issue Reporting and Resolution System</a:t>
            </a:r>
            <a:endParaRPr sz="1100" dirty="0"/>
          </a:p>
          <a:p>
            <a:pPr marL="215900" marR="0" lvl="0" indent="-215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GB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Theme-</a:t>
            </a:r>
            <a:r>
              <a:rPr lang="en-US" altLang="en-GB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Clean &amp; Green Technology</a:t>
            </a:r>
            <a:endParaRPr sz="1000" dirty="0"/>
          </a:p>
          <a:p>
            <a:pPr marL="215900" marR="0" lvl="0" indent="-215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GB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PS Category- </a:t>
            </a:r>
            <a:r>
              <a:rPr lang="en-GB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Software</a:t>
            </a:r>
            <a:endParaRPr sz="1100" dirty="0"/>
          </a:p>
          <a:p>
            <a:pPr marL="215900" marR="0" lvl="0" indent="-215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GB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 ID-</a:t>
            </a:r>
            <a:r>
              <a:rPr lang="en-US" altLang="en-GB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GB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34</a:t>
            </a:r>
            <a:endParaRPr sz="1100" dirty="0"/>
          </a:p>
          <a:p>
            <a:pPr marL="215900" marR="0" lvl="0" indent="-215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GB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 Name</a:t>
            </a:r>
            <a:r>
              <a:rPr lang="en-US" altLang="en-GB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:</a:t>
            </a:r>
            <a:r>
              <a:rPr lang="en-US" altLang="en-GB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Accelerators</a:t>
            </a:r>
          </a:p>
        </p:txBody>
      </p:sp>
      <p:pic>
        <p:nvPicPr>
          <p:cNvPr id="2" name="Google Shape;94;p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064468" y="0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9"/>
            <a:ext cx="8229600" cy="857250"/>
          </a:xfrm>
        </p:spPr>
        <p:txBody>
          <a:bodyPr/>
          <a:lstStyle/>
          <a:p>
            <a:r>
              <a:rPr lang="en-US"/>
              <a:t>Idea/Approach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6116" y="1797225"/>
            <a:ext cx="1336784" cy="600700"/>
            <a:chOff x="145" y="1718"/>
            <a:chExt cx="3372" cy="1612"/>
          </a:xfrm>
          <a:solidFill>
            <a:schemeClr val="accent6">
              <a:lumMod val="75000"/>
            </a:schemeClr>
          </a:solidFill>
        </p:grpSpPr>
        <p:sp>
          <p:nvSpPr>
            <p:cNvPr id="6" name="Text Box 5"/>
            <p:cNvSpPr txBox="1"/>
            <p:nvPr/>
          </p:nvSpPr>
          <p:spPr>
            <a:xfrm>
              <a:off x="145" y="1718"/>
              <a:ext cx="3372" cy="90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>
                  <a:solidFill>
                    <a:schemeClr val="tx1"/>
                  </a:solidFill>
                </a:rPr>
                <a:t>Problems</a:t>
              </a:r>
            </a:p>
          </p:txBody>
        </p:sp>
        <p:cxnSp>
          <p:nvCxnSpPr>
            <p:cNvPr id="7" name="Straight Arrow Connector 6"/>
            <p:cNvCxnSpPr>
              <a:endCxn id="11" idx="0"/>
            </p:cNvCxnSpPr>
            <p:nvPr/>
          </p:nvCxnSpPr>
          <p:spPr>
            <a:xfrm>
              <a:off x="2237" y="2636"/>
              <a:ext cx="96" cy="694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8" name="Straight Arrow Connector 7"/>
          <p:cNvCxnSpPr/>
          <p:nvPr/>
        </p:nvCxnSpPr>
        <p:spPr>
          <a:xfrm flipV="1">
            <a:off x="847725" y="1435100"/>
            <a:ext cx="15240" cy="363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574800" y="1736090"/>
            <a:ext cx="1680845" cy="4533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SzTx/>
            </a:pPr>
            <a:r>
              <a:rPr lang="en-US">
                <a:sym typeface="+mn-ea"/>
              </a:rPr>
              <a:t>Unaware about local 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40" y="910448"/>
            <a:ext cx="1936115" cy="5156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SzTx/>
            </a:pPr>
            <a:r>
              <a:rPr lang="en-US">
                <a:sym typeface="+mn-ea"/>
              </a:rPr>
              <a:t>Lacks Transparency, accountability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" y="2397760"/>
            <a:ext cx="1734820" cy="6858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SzTx/>
            </a:pPr>
            <a:r>
              <a:rPr lang="en-US">
                <a:sym typeface="Lexend"/>
              </a:rPr>
              <a:t>Issues cause inconvenience and even deaths.</a:t>
            </a:r>
          </a:p>
        </p:txBody>
      </p:sp>
      <p:cxnSp>
        <p:nvCxnSpPr>
          <p:cNvPr id="12" name="Straight Arrow Connector 11"/>
          <p:cNvCxnSpPr>
            <a:stCxn id="6" idx="3"/>
            <a:endCxn id="9" idx="1"/>
          </p:cNvCxnSpPr>
          <p:nvPr/>
        </p:nvCxnSpPr>
        <p:spPr>
          <a:xfrm flipV="1">
            <a:off x="1412900" y="1962785"/>
            <a:ext cx="161900" cy="3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3383248" y="1103948"/>
            <a:ext cx="6006465" cy="3700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 u="sng" dirty="0"/>
              <a:t>V</a:t>
            </a:r>
            <a:r>
              <a:rPr lang="en-US" altLang="en-US" sz="1000" b="1" u="sng" dirty="0"/>
              <a:t>ision</a:t>
            </a:r>
          </a:p>
          <a:p>
            <a:r>
              <a:rPr lang="en-US" altLang="en-US" sz="1000" dirty="0"/>
              <a:t>Civic issue reporting system with public engagement and transparent resolution tracking.</a:t>
            </a:r>
          </a:p>
          <a:p>
            <a:endParaRPr lang="en-US" altLang="en-US" sz="1000" b="1" dirty="0"/>
          </a:p>
          <a:p>
            <a:r>
              <a:rPr lang="en-US" altLang="en-US" sz="1000" b="1" u="sng" dirty="0"/>
              <a:t> Smart Sharing</a:t>
            </a:r>
          </a:p>
          <a:p>
            <a:r>
              <a:rPr lang="en-US" altLang="en-US" sz="1000" dirty="0"/>
              <a:t>Shareable links for social media to standardize unorganized issue reporting and tagging.</a:t>
            </a:r>
          </a:p>
          <a:p>
            <a:endParaRPr lang="en-US" altLang="en-US" sz="1000" dirty="0"/>
          </a:p>
          <a:p>
            <a:r>
              <a:rPr lang="en-US" altLang="en-US" sz="1000" b="1" u="sng" dirty="0"/>
              <a:t>Public Dashboard</a:t>
            </a:r>
          </a:p>
          <a:p>
            <a:r>
              <a:rPr lang="en-US" altLang="en-US" sz="1000" dirty="0"/>
              <a:t>No login required. View all issues resolved and pending on an open-access dashboard.</a:t>
            </a:r>
          </a:p>
          <a:p>
            <a:endParaRPr lang="en-US" altLang="en-US" sz="1000" dirty="0"/>
          </a:p>
          <a:p>
            <a:r>
              <a:rPr lang="en-US" altLang="en-US" sz="1000" b="1" u="sng" dirty="0"/>
              <a:t>Community Chat</a:t>
            </a:r>
          </a:p>
          <a:p>
            <a:r>
              <a:rPr lang="en-US" altLang="en-US" sz="1000" dirty="0"/>
              <a:t>Local users can discuss issues, share evidence (photos, documents), and collaborate in real time.</a:t>
            </a:r>
          </a:p>
          <a:p>
            <a:endParaRPr lang="en-US" altLang="en-US" sz="1000" dirty="0"/>
          </a:p>
          <a:p>
            <a:r>
              <a:rPr lang="en-US" altLang="en-US" sz="1000" b="1" u="sng" dirty="0"/>
              <a:t> Responsibility Tracker</a:t>
            </a:r>
          </a:p>
          <a:p>
            <a:r>
              <a:rPr lang="en-US" altLang="en-US" sz="1000" dirty="0"/>
              <a:t>Display department (Sub-admin) contact details. Categorize issue stages into a well-defined structure.</a:t>
            </a:r>
          </a:p>
          <a:p>
            <a:endParaRPr lang="en-US" altLang="en-US" sz="1000" dirty="0"/>
          </a:p>
          <a:p>
            <a:r>
              <a:rPr lang="en-US" altLang="en-US" sz="1000" b="1" u="sng" dirty="0"/>
              <a:t> Admin Updates</a:t>
            </a:r>
          </a:p>
          <a:p>
            <a:r>
              <a:rPr lang="en-US" altLang="en-US" sz="1000" dirty="0"/>
              <a:t>Admins communicate with departments to update issue status visible on the public dashboard.</a:t>
            </a:r>
          </a:p>
          <a:p>
            <a:endParaRPr lang="en-US" altLang="en-US" sz="1000" dirty="0"/>
          </a:p>
          <a:p>
            <a:r>
              <a:rPr lang="en-US" altLang="en-US" sz="1000" b="1" u="sng" dirty="0"/>
              <a:t> Map Visualization</a:t>
            </a:r>
          </a:p>
          <a:p>
            <a:r>
              <a:rPr lang="en-US" altLang="en-US" sz="1000" dirty="0"/>
              <a:t>Interactive map shows issue density and resolution status across different regions.</a:t>
            </a:r>
          </a:p>
          <a:p>
            <a:endParaRPr lang="en-US" altLang="en-US" sz="1000" dirty="0"/>
          </a:p>
          <a:p>
            <a:r>
              <a:rPr lang="en-US" altLang="en-US" sz="1000" b="1" u="sng" dirty="0"/>
              <a:t>Resolution Stats</a:t>
            </a:r>
          </a:p>
          <a:p>
            <a:r>
              <a:rPr lang="en-US" altLang="en-US" sz="1000" dirty="0"/>
              <a:t>Public dashboard displays resolved vs pending issues based on location and on the homepage for transparency</a:t>
            </a:r>
            <a:r>
              <a:rPr lang="en-US" altLang="en-US" dirty="0"/>
              <a:t>.</a:t>
            </a:r>
            <a:endParaRPr lang="en-US" dirty="0"/>
          </a:p>
        </p:txBody>
      </p:sp>
      <p:sp>
        <p:nvSpPr>
          <p:cNvPr id="146" name="Google Shape;146;p26" descr="Your startup LOGO"/>
          <p:cNvSpPr/>
          <p:nvPr/>
        </p:nvSpPr>
        <p:spPr>
          <a:xfrm>
            <a:off x="122066" y="100774"/>
            <a:ext cx="1481798" cy="408826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Accelerators</a:t>
            </a:r>
          </a:p>
        </p:txBody>
      </p:sp>
      <p:sp>
        <p:nvSpPr>
          <p:cNvPr id="26" name="Rectangles 25"/>
          <p:cNvSpPr/>
          <p:nvPr/>
        </p:nvSpPr>
        <p:spPr>
          <a:xfrm>
            <a:off x="763270" y="3966210"/>
            <a:ext cx="1485265" cy="3371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SzTx/>
            </a:pPr>
            <a:r>
              <a:rPr lang="en-US" b="1">
                <a:sym typeface="+mn-ea"/>
              </a:rPr>
              <a:t>Importance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4475" y="3218180"/>
            <a:ext cx="1936750" cy="572135"/>
          </a:xfrm>
          <a:prstGeom prst="roundRect">
            <a:avLst>
              <a:gd name="adj" fmla="val 15982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SzTx/>
            </a:pPr>
            <a:r>
              <a:rPr lang="en-US">
                <a:sym typeface="Lexend"/>
              </a:rPr>
              <a:t> Civic Issues India 2047 Vision Depends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3822" y="4398645"/>
            <a:ext cx="2134806" cy="67754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SzTx/>
            </a:pPr>
            <a:r>
              <a:rPr lang="en-US" dirty="0">
                <a:sym typeface="Lexend"/>
              </a:rPr>
              <a:t>Unavailability of local issue resolver system</a:t>
            </a:r>
          </a:p>
        </p:txBody>
      </p:sp>
      <p:cxnSp>
        <p:nvCxnSpPr>
          <p:cNvPr id="33" name="Curved Connector 32"/>
          <p:cNvCxnSpPr>
            <a:stCxn id="26" idx="3"/>
          </p:cNvCxnSpPr>
          <p:nvPr/>
        </p:nvCxnSpPr>
        <p:spPr>
          <a:xfrm>
            <a:off x="2248535" y="4134803"/>
            <a:ext cx="198451" cy="263842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6" idx="0"/>
            <a:endCxn id="27" idx="2"/>
          </p:cNvCxnSpPr>
          <p:nvPr/>
        </p:nvCxnSpPr>
        <p:spPr>
          <a:xfrm flipH="1" flipV="1">
            <a:off x="1212850" y="3790315"/>
            <a:ext cx="293370" cy="1758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Google Shape;94;p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064468" y="0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>
            <a:spLocks noGrp="1"/>
          </p:cNvSpPr>
          <p:nvPr>
            <p:ph type="title"/>
          </p:nvPr>
        </p:nvSpPr>
        <p:spPr>
          <a:xfrm>
            <a:off x="1064654" y="37909"/>
            <a:ext cx="6555346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Userflow</a:t>
            </a:r>
            <a:endParaRPr dirty="0"/>
          </a:p>
        </p:txBody>
      </p:sp>
      <p:sp>
        <p:nvSpPr>
          <p:cNvPr id="172" name="Google Shape;172;p28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 panose="00000500000000000000"/>
              <a:buNone/>
            </a:pPr>
            <a:fld id="{00000000-1234-1234-1234-123412341234}" type="slidenum">
              <a:rPr lang="en-GB" sz="900" b="1" i="0" u="none" strike="noStrike" cap="none">
                <a:solidFill>
                  <a:srgbClr val="FFFFFF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3</a:t>
            </a:fld>
            <a:endParaRPr sz="900" b="1" i="0" u="none" strike="noStrike" cap="none">
              <a:solidFill>
                <a:srgbClr val="FFFFFF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pic>
        <p:nvPicPr>
          <p:cNvPr id="3" name="Picture 2" descr="A diagram of a process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34" y="962774"/>
            <a:ext cx="7518400" cy="4078335"/>
          </a:xfrm>
          <a:prstGeom prst="rect">
            <a:avLst/>
          </a:prstGeom>
        </p:spPr>
      </p:pic>
      <p:sp>
        <p:nvSpPr>
          <p:cNvPr id="4" name="Google Shape;199;p30" descr="Your startup LOGO"/>
          <p:cNvSpPr/>
          <p:nvPr/>
        </p:nvSpPr>
        <p:spPr>
          <a:xfrm>
            <a:off x="125456" y="180202"/>
            <a:ext cx="1484404" cy="41612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Accelerators</a:t>
            </a:r>
            <a:endParaRPr sz="14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Google Shape;94;p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064468" y="0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>
            <a:spLocks noGrp="1"/>
          </p:cNvSpPr>
          <p:nvPr>
            <p:ph type="title"/>
          </p:nvPr>
        </p:nvSpPr>
        <p:spPr>
          <a:xfrm>
            <a:off x="1064654" y="37909"/>
            <a:ext cx="6555346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Tech</a:t>
            </a:r>
            <a:r>
              <a:rPr lang="en-US" altLang="en-GB" sz="27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nology Stack </a:t>
            </a:r>
          </a:p>
        </p:txBody>
      </p:sp>
      <p:sp>
        <p:nvSpPr>
          <p:cNvPr id="172" name="Google Shape;172;p28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 panose="00000500000000000000"/>
              <a:buNone/>
            </a:pPr>
            <a:fld id="{00000000-1234-1234-1234-123412341234}" type="slidenum">
              <a:rPr lang="en-GB" sz="900" b="1" i="0" u="none" strike="noStrike" cap="none">
                <a:solidFill>
                  <a:srgbClr val="FFFFFF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4</a:t>
            </a:fld>
            <a:endParaRPr sz="900" b="1" i="0" u="none" strike="noStrike" cap="none">
              <a:solidFill>
                <a:srgbClr val="FFFFFF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4" name="Google Shape;199;p30" descr="Your startup LOGO"/>
          <p:cNvSpPr/>
          <p:nvPr/>
        </p:nvSpPr>
        <p:spPr>
          <a:xfrm>
            <a:off x="125456" y="180202"/>
            <a:ext cx="1484404" cy="41612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Accelerators</a:t>
            </a:r>
            <a:endParaRPr sz="14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Google Shape;94;p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064468" y="0"/>
            <a:ext cx="2079532" cy="9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325084" y="1217533"/>
            <a:ext cx="3587661" cy="364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Frontend :-</a:t>
            </a:r>
          </a:p>
          <a:p>
            <a:r>
              <a:rPr lang="en-US" altLang="en-IN" sz="1050" b="1" dirty="0"/>
              <a:t>Figma</a:t>
            </a:r>
            <a:r>
              <a:rPr lang="en-IN" sz="1050" dirty="0">
                <a:sym typeface="+mn-ea"/>
              </a:rPr>
              <a:t>→</a:t>
            </a:r>
            <a:r>
              <a:rPr lang="en-US" altLang="en-IN" sz="1050" dirty="0">
                <a:sym typeface="+mn-ea"/>
              </a:rPr>
              <a:t>UI design</a:t>
            </a:r>
            <a:endParaRPr lang="en-IN" sz="1050" dirty="0"/>
          </a:p>
          <a:p>
            <a:pPr lvl="0"/>
            <a:r>
              <a:rPr lang="en-IN" sz="1050" b="1" dirty="0"/>
              <a:t>React.js</a:t>
            </a:r>
            <a:r>
              <a:rPr lang="en-IN" sz="1050" dirty="0"/>
              <a:t> → UI</a:t>
            </a:r>
            <a:r>
              <a:rPr lang="en-US" altLang="en-IN" sz="1050" dirty="0"/>
              <a:t> Implementation</a:t>
            </a:r>
            <a:endParaRPr lang="en-IN" sz="1050" dirty="0"/>
          </a:p>
          <a:p>
            <a:pPr lvl="0"/>
            <a:r>
              <a:rPr lang="en-IN" sz="1050" b="1" dirty="0"/>
              <a:t>CSS </a:t>
            </a:r>
            <a:r>
              <a:rPr lang="en-IN" sz="1050" dirty="0"/>
              <a:t>→ styling.</a:t>
            </a:r>
            <a:br>
              <a:rPr lang="en-IN" sz="1050" dirty="0"/>
            </a:br>
            <a:endParaRPr lang="en-IN" sz="1050" dirty="0"/>
          </a:p>
          <a:p>
            <a:r>
              <a:rPr lang="en-IN" sz="1050" b="1" dirty="0"/>
              <a:t>Backend :-</a:t>
            </a:r>
            <a:endParaRPr lang="en-IN" sz="1050" dirty="0"/>
          </a:p>
          <a:p>
            <a:pPr lvl="0"/>
            <a:r>
              <a:rPr lang="en-IN" sz="1050" b="1" dirty="0"/>
              <a:t>Node.js + Express.js</a:t>
            </a:r>
            <a:r>
              <a:rPr lang="en-IN" sz="1050" dirty="0"/>
              <a:t> → REST API server.</a:t>
            </a:r>
          </a:p>
          <a:p>
            <a:pPr lvl="0"/>
            <a:r>
              <a:rPr lang="en-IN" sz="1050" b="1" dirty="0"/>
              <a:t>JWT</a:t>
            </a:r>
            <a:r>
              <a:rPr lang="en-IN" sz="1050" dirty="0"/>
              <a:t> → authentication.</a:t>
            </a:r>
          </a:p>
          <a:p>
            <a:pPr lvl="0"/>
            <a:r>
              <a:rPr lang="en-IN" sz="1050" b="1" dirty="0"/>
              <a:t>Multer</a:t>
            </a:r>
            <a:r>
              <a:rPr lang="en-IN" sz="1050" dirty="0"/>
              <a:t> → For image uploads.</a:t>
            </a:r>
            <a:br>
              <a:rPr lang="en-IN" sz="1050" dirty="0"/>
            </a:br>
            <a:endParaRPr lang="en-IN" sz="1050" dirty="0"/>
          </a:p>
          <a:p>
            <a:r>
              <a:rPr lang="en-IN" sz="1050" b="1" dirty="0"/>
              <a:t>Database:-</a:t>
            </a:r>
            <a:endParaRPr lang="en-IN" sz="1050" dirty="0"/>
          </a:p>
          <a:p>
            <a:pPr lvl="0"/>
            <a:r>
              <a:rPr lang="en-IN" sz="1050" b="1" dirty="0"/>
              <a:t>MongoDB</a:t>
            </a:r>
            <a:endParaRPr lang="en-IN" sz="1050" dirty="0"/>
          </a:p>
          <a:p>
            <a:pPr lvl="1"/>
            <a:r>
              <a:rPr lang="en-IN" sz="1050" dirty="0"/>
              <a:t>Store users, issues, comments, </a:t>
            </a:r>
            <a:r>
              <a:rPr lang="en-IN" sz="1050" dirty="0" err="1"/>
              <a:t>progress,images</a:t>
            </a:r>
            <a:r>
              <a:rPr lang="en-IN" sz="1050" dirty="0"/>
              <a:t>.</a:t>
            </a:r>
          </a:p>
          <a:p>
            <a:br>
              <a:rPr lang="en-IN" sz="1050" b="1" dirty="0"/>
            </a:br>
            <a:r>
              <a:rPr lang="en-IN" sz="1050" b="1" dirty="0"/>
              <a:t>APIs / Integrations </a:t>
            </a:r>
            <a:br>
              <a:rPr lang="en-IN" sz="1050" b="1" dirty="0"/>
            </a:br>
            <a:r>
              <a:rPr lang="en-IN" sz="1050" b="1" dirty="0"/>
              <a:t>Leaflet.js (OpenStreetMap)</a:t>
            </a:r>
            <a:r>
              <a:rPr lang="en-IN" sz="1050" dirty="0"/>
              <a:t> → To show issue locations on a map.</a:t>
            </a:r>
            <a:br>
              <a:rPr lang="en-IN" sz="1050" dirty="0"/>
            </a:br>
            <a:endParaRPr lang="en-IN" sz="1050" dirty="0"/>
          </a:p>
          <a:p>
            <a:r>
              <a:rPr lang="en-IN" sz="1050" b="1" dirty="0"/>
              <a:t>Deployment</a:t>
            </a:r>
            <a:endParaRPr lang="en-IN" sz="1050" dirty="0"/>
          </a:p>
          <a:p>
            <a:pPr lvl="0"/>
            <a:r>
              <a:rPr lang="en-IN" sz="1050" b="1" dirty="0"/>
              <a:t>Frontend</a:t>
            </a:r>
            <a:r>
              <a:rPr lang="en-IN" sz="1050" dirty="0"/>
              <a:t> → Netlify.</a:t>
            </a:r>
          </a:p>
          <a:p>
            <a:pPr lvl="0"/>
            <a:r>
              <a:rPr lang="en-IN" sz="1050" b="1" dirty="0"/>
              <a:t>Backend</a:t>
            </a:r>
            <a:r>
              <a:rPr lang="en-IN" sz="1050" dirty="0"/>
              <a:t> → Render / Railway.</a:t>
            </a:r>
          </a:p>
          <a:p>
            <a:pPr lvl="0"/>
            <a:r>
              <a:rPr lang="en-IN" sz="1050" b="1" dirty="0"/>
              <a:t>Database</a:t>
            </a:r>
            <a:r>
              <a:rPr lang="en-IN" sz="1050" dirty="0"/>
              <a:t> → MongoDB Atlas.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317" y="4119177"/>
            <a:ext cx="890837" cy="924913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600565" y="3425079"/>
            <a:ext cx="2151639" cy="1556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endParaRPr lang="en-US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/>
          <p:nvPr/>
        </p:nvPicPr>
        <p:blipFill>
          <a:blip r:embed="rId5"/>
          <a:srcRect l="39222" t="16865" r="33422" b="38095"/>
          <a:stretch>
            <a:fillRect/>
          </a:stretch>
        </p:blipFill>
        <p:spPr>
          <a:xfrm>
            <a:off x="701675" y="2769870"/>
            <a:ext cx="572770" cy="548005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5"/>
          <a:srcRect l="65467" t="18492" b="34444"/>
          <a:stretch>
            <a:fillRect/>
          </a:stretch>
        </p:blipFill>
        <p:spPr>
          <a:xfrm>
            <a:off x="408940" y="675640"/>
            <a:ext cx="612140" cy="541655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6"/>
          <a:srcRect l="73168" r="7176" b="23958"/>
          <a:stretch>
            <a:fillRect/>
          </a:stretch>
        </p:blipFill>
        <p:spPr>
          <a:xfrm>
            <a:off x="544830" y="1850390"/>
            <a:ext cx="729615" cy="522605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6"/>
          <a:srcRect r="72595"/>
          <a:stretch>
            <a:fillRect/>
          </a:stretch>
        </p:blipFill>
        <p:spPr>
          <a:xfrm>
            <a:off x="701675" y="2408555"/>
            <a:ext cx="493395" cy="361315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7"/>
          <a:srcRect l="2022" t="31786" r="50133" b="32262"/>
          <a:stretch>
            <a:fillRect/>
          </a:stretch>
        </p:blipFill>
        <p:spPr>
          <a:xfrm>
            <a:off x="125730" y="1189355"/>
            <a:ext cx="1020445" cy="494665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8"/>
          <a:stretch>
            <a:fillRect/>
          </a:stretch>
        </p:blipFill>
        <p:spPr>
          <a:xfrm>
            <a:off x="125730" y="4051935"/>
            <a:ext cx="669290" cy="523875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9"/>
          <a:stretch>
            <a:fillRect/>
          </a:stretch>
        </p:blipFill>
        <p:spPr>
          <a:xfrm>
            <a:off x="79375" y="3562350"/>
            <a:ext cx="941705" cy="259715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10"/>
          <a:stretch>
            <a:fillRect/>
          </a:stretch>
        </p:blipFill>
        <p:spPr>
          <a:xfrm>
            <a:off x="57150" y="2299335"/>
            <a:ext cx="644525" cy="36957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11"/>
          <a:stretch>
            <a:fillRect/>
          </a:stretch>
        </p:blipFill>
        <p:spPr>
          <a:xfrm>
            <a:off x="794385" y="4403725"/>
            <a:ext cx="530860" cy="4940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44AAA4-BC18-C97D-3280-8D6B269149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6552" y="1684542"/>
            <a:ext cx="4727448" cy="2007665"/>
          </a:xfrm>
          <a:prstGeom prst="rect">
            <a:avLst/>
          </a:prstGeom>
          <a:solidFill>
            <a:schemeClr val="tx1"/>
          </a:solidFill>
          <a:ln cap="sq">
            <a:solidFill>
              <a:schemeClr val="tx1"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6363DB-392D-7CF8-EBA3-DD3AD1BC648B}"/>
              </a:ext>
            </a:extLst>
          </p:cNvPr>
          <p:cNvSpPr txBox="1"/>
          <p:nvPr/>
        </p:nvSpPr>
        <p:spPr>
          <a:xfrm>
            <a:off x="5466380" y="1573391"/>
            <a:ext cx="1134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Architecture</a:t>
            </a:r>
            <a:endParaRPr lang="en-IN" sz="2000" b="1" u="sn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Impact and Benefits</a:t>
            </a:r>
            <a:endParaRPr dirty="0"/>
          </a:p>
        </p:txBody>
      </p:sp>
      <p:sp>
        <p:nvSpPr>
          <p:cNvPr id="183" name="Google Shape;183;p29"/>
          <p:cNvSpPr txBox="1"/>
          <p:nvPr/>
        </p:nvSpPr>
        <p:spPr>
          <a:xfrm>
            <a:off x="355949" y="1060325"/>
            <a:ext cx="7976681" cy="410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indent="-304800">
              <a:lnSpc>
                <a:spcPct val="115000"/>
              </a:lnSpc>
              <a:buSzPts val="1200"/>
              <a:buFont typeface="Lexend"/>
              <a:buChar char="●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Awareness :To reach a wider range of citizens ,users can share the issues on popular social media platforms.</a:t>
            </a:r>
            <a:endParaRPr lang="en-IN" sz="1200" dirty="0"/>
          </a:p>
          <a:p>
            <a:pPr marL="457200" lvl="0" indent="-304800">
              <a:lnSpc>
                <a:spcPct val="115000"/>
              </a:lnSpc>
              <a:buSzPts val="1200"/>
              <a:buFont typeface="Lexend"/>
              <a:buChar char="●"/>
            </a:pPr>
            <a:endParaRPr lang="en-US" sz="1200" dirty="0"/>
          </a:p>
          <a:p>
            <a:pPr marL="457200" lvl="0" indent="-304800">
              <a:lnSpc>
                <a:spcPct val="115000"/>
              </a:lnSpc>
              <a:buSzPts val="1200"/>
              <a:buFont typeface="Lexend"/>
              <a:buChar char="●"/>
            </a:pPr>
            <a:r>
              <a:rPr lang="en-US" sz="1200" dirty="0"/>
              <a:t>Time Saved : Citizen Time Savings Reporting issues traditionally requires visiting municipal offices, making repeated phone calls, or filing written complaints, often taking 30 minutes or more. With a mobile-first platform supporting local languages, citizens can submit reports in under 3 minutes using geotagged photos and short descriptions</a:t>
            </a:r>
            <a:br>
              <a:rPr lang="en-GB" sz="1200" dirty="0">
                <a:latin typeface="Lexend"/>
                <a:ea typeface="Lexend"/>
                <a:cs typeface="Lexend"/>
                <a:sym typeface="Lexend"/>
              </a:rPr>
            </a:br>
            <a:endParaRPr sz="1200" dirty="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>
              <a:lnSpc>
                <a:spcPct val="115000"/>
              </a:lnSpc>
              <a:buSzPts val="1200"/>
              <a:buFont typeface="Lexend"/>
              <a:buChar char="●"/>
            </a:pPr>
            <a:r>
              <a:rPr lang="en-US" sz="1200" dirty="0"/>
              <a:t>Municipal Staff Efficiency : Municipal bodies often manually register complaints and route them to various departments, consuming several minutes per complaint. Automated routing can reduce this process by least 50%.</a:t>
            </a:r>
            <a:br>
              <a:rPr lang="en-GB" sz="1200" dirty="0">
                <a:latin typeface="Lexend"/>
                <a:ea typeface="Lexend"/>
                <a:cs typeface="Lexend"/>
                <a:sym typeface="Lexend"/>
              </a:rPr>
            </a:br>
            <a:endParaRPr sz="1200" dirty="0">
              <a:latin typeface="Lexend"/>
              <a:ea typeface="Lexend"/>
              <a:cs typeface="Lexend"/>
              <a:sym typeface="Lexend"/>
            </a:endParaRPr>
          </a:p>
          <a:p>
            <a:pPr marL="152400" lvl="0">
              <a:lnSpc>
                <a:spcPct val="115000"/>
              </a:lnSpc>
              <a:buSzPts val="1200"/>
            </a:pPr>
            <a:r>
              <a:rPr lang="en-US" sz="1200" dirty="0"/>
              <a:t>       Citizen Engagement &amp; Trust : When citizens receive real-time updates on their complaints, trust in municipal      </a:t>
            </a:r>
            <a:br>
              <a:rPr lang="en-US" sz="1200" dirty="0"/>
            </a:br>
            <a:r>
              <a:rPr lang="en-US" sz="1200" dirty="0"/>
              <a:t>       governance increases. </a:t>
            </a:r>
            <a:br>
              <a:rPr lang="en-US" sz="1200" dirty="0"/>
            </a:br>
            <a:r>
              <a:rPr lang="en-US" sz="1200" dirty="0"/>
              <a:t>  </a:t>
            </a:r>
            <a:br>
              <a:rPr lang="en-US" sz="1200" dirty="0"/>
            </a:br>
            <a:r>
              <a:rPr lang="en-US" sz="1200" dirty="0"/>
              <a:t>       Faster Issue Resolution : Real time location tagging and multimedia uploads help authorities identify and fix </a:t>
            </a:r>
            <a:br>
              <a:rPr lang="en-US" sz="1200" dirty="0"/>
            </a:br>
            <a:r>
              <a:rPr lang="en-US" sz="1200" dirty="0"/>
              <a:t>       problems quickly.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       A single platform to complain about various types of issues such as to inform about </a:t>
            </a:r>
            <a:r>
              <a:rPr lang="en-US" sz="1200" dirty="0" err="1"/>
              <a:t>potholes,street</a:t>
            </a:r>
            <a:r>
              <a:rPr lang="en-US" sz="1200" dirty="0"/>
              <a:t> light ,     </a:t>
            </a:r>
            <a:br>
              <a:rPr lang="en-US" sz="1200" dirty="0"/>
            </a:br>
            <a:r>
              <a:rPr lang="en-US" sz="1200" dirty="0"/>
              <a:t>       Water </a:t>
            </a:r>
            <a:r>
              <a:rPr lang="en-US" sz="1200" dirty="0" err="1"/>
              <a:t>leakage,etc</a:t>
            </a:r>
            <a:r>
              <a:rPr lang="en-US" sz="1200" dirty="0"/>
              <a:t>.</a:t>
            </a:r>
            <a:endParaRPr sz="1200" dirty="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9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 panose="00000500000000000000"/>
              <a:buNone/>
            </a:pPr>
            <a:fld id="{00000000-1234-1234-1234-123412341234}" type="slidenum">
              <a:rPr lang="en-GB" sz="900" b="1" i="0" u="none" strike="noStrike" cap="none">
                <a:solidFill>
                  <a:srgbClr val="FFFFFF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5</a:t>
            </a:fld>
            <a:endParaRPr sz="900" b="1" i="0" u="none" strike="noStrike" cap="none">
              <a:solidFill>
                <a:srgbClr val="FFFFFF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2" name="Google Shape;199;p30" descr="Your startup LOGO"/>
          <p:cNvSpPr/>
          <p:nvPr/>
        </p:nvSpPr>
        <p:spPr>
          <a:xfrm>
            <a:off x="106136" y="195623"/>
            <a:ext cx="1497757" cy="41612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Accelerators</a:t>
            </a:r>
            <a:endParaRPr sz="14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Google Shape;94;p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064468" y="0"/>
            <a:ext cx="2079532" cy="9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B04B96-ABFF-2C5E-E93E-32BCCCA73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30" y="3409657"/>
            <a:ext cx="219106" cy="181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2EC1E2-F171-B01E-9B68-1B13B54E9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30" y="3884382"/>
            <a:ext cx="219106" cy="181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D9AB28-FDFB-1910-724E-045511FF4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30" y="4513961"/>
            <a:ext cx="219106" cy="1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>
            <a:spLocks noGrp="1"/>
          </p:cNvSpPr>
          <p:nvPr>
            <p:ph type="title"/>
          </p:nvPr>
        </p:nvSpPr>
        <p:spPr>
          <a:xfrm>
            <a:off x="272405" y="-637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RESEARCH  AND REFERENCES</a:t>
            </a:r>
            <a:endParaRPr dirty="0"/>
          </a:p>
        </p:txBody>
      </p:sp>
      <p:sp>
        <p:nvSpPr>
          <p:cNvPr id="195" name="Google Shape;195;p30"/>
          <p:cNvSpPr txBox="1"/>
          <p:nvPr/>
        </p:nvSpPr>
        <p:spPr>
          <a:xfrm>
            <a:off x="566670" y="1009796"/>
            <a:ext cx="7469746" cy="3023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54000" lvl="0" indent="-247650">
              <a:buSzPts val="2100"/>
              <a:buFont typeface="Arial" panose="020B0604020202020204"/>
              <a:buChar char="•"/>
            </a:pPr>
            <a:r>
              <a:rPr lang="en-US" sz="1200" dirty="0"/>
              <a:t>A Crowdsourced Complaint Resolution System Using Geotagging and Social Media Engagement (IRJMETS, 2023) – Proposes and develops a civic issue reporting system that leverages geotagging and social media to improve complaint visibility, enable faster authority response, and enhance citizen</a:t>
            </a:r>
            <a:br>
              <a:rPr lang="en-US" sz="1200" dirty="0"/>
            </a:br>
            <a:r>
              <a:rPr lang="en-US" sz="1200" dirty="0"/>
              <a:t>participation.             </a:t>
            </a:r>
            <a:br>
              <a:rPr lang="en-US" sz="1200" dirty="0"/>
            </a:br>
            <a:r>
              <a:rPr lang="en-US" sz="1200" dirty="0"/>
              <a:t>Toward Understanding Civic Data Bias in 311 Systems: An Information Deserts Perspective (ResearchGate, 2020) – Looks at how digital access and citizen behavior skew complaint data in 311 systems, showing that poorer or marginalized neighborhoods tend to report fewer issues.</a:t>
            </a:r>
            <a:br>
              <a:rPr lang="en-US" sz="1200" dirty="0"/>
            </a:br>
            <a:r>
              <a:rPr lang="en-US" sz="1200" dirty="0"/>
              <a:t>Smart Civic Issue Reporting System (India, 2022) – Presents a simple app for citizens to report street problems (like potholes, trash) with photos and location, speeding up how municipal authorities see and fix issues. Complaint Go: An Online Complaint Registration System using Web Services and Android (IOP Conf., 2017) – Delivers an Android-based system allowing citizens to file civic complaints via mobile or web, with officials notified and status tracking.                  </a:t>
            </a:r>
            <a:br>
              <a:rPr lang="en-US" sz="1200" dirty="0"/>
            </a:br>
            <a:r>
              <a:rPr lang="en-US" sz="1200" dirty="0"/>
              <a:t> A Crowdsourced Complaint Resolution System Using Geotagging and Social Media Engagement (IRJMETS, 2023) – Proposes and develops a civic issue reporting system that leverages geotagging and social media to improve complaint visibility, enable faster authority response, and enhance citizen participation.</a:t>
            </a:r>
            <a:endParaRPr sz="12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6" name="Google Shape;196;p30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 panose="00000500000000000000"/>
              <a:buNone/>
            </a:pPr>
            <a:fld id="{00000000-1234-1234-1234-123412341234}" type="slidenum">
              <a:rPr lang="en-GB" sz="900" b="1" i="0" u="none" strike="noStrike" cap="none">
                <a:solidFill>
                  <a:srgbClr val="FFFFFF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6</a:t>
            </a:fld>
            <a:endParaRPr sz="900" b="1" i="0" u="none" strike="noStrike" cap="none">
              <a:solidFill>
                <a:srgbClr val="FFFFFF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197" name="Google Shape;197;p30"/>
          <p:cNvSpPr txBox="1">
            <a:spLocks noGrp="1"/>
          </p:cNvSpPr>
          <p:nvPr>
            <p:ph type="ftr" idx="11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 panose="00000500000000000000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@SIH Idea submission- Template</a:t>
            </a:r>
            <a:endParaRPr sz="900" b="0" i="0" u="none" strike="noStrike" cap="none">
              <a:solidFill>
                <a:srgbClr val="FFFFFF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199" name="Google Shape;199;p30" descr="Your startup LOGO"/>
          <p:cNvSpPr/>
          <p:nvPr/>
        </p:nvSpPr>
        <p:spPr>
          <a:xfrm>
            <a:off x="106136" y="195623"/>
            <a:ext cx="1497757" cy="41612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Accelerators</a:t>
            </a:r>
            <a:endParaRPr sz="14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Flowchart: Connector 3"/>
          <p:cNvSpPr/>
          <p:nvPr/>
        </p:nvSpPr>
        <p:spPr>
          <a:xfrm>
            <a:off x="671056" y="1860372"/>
            <a:ext cx="45719" cy="4571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Connector 4"/>
          <p:cNvSpPr/>
          <p:nvPr/>
        </p:nvSpPr>
        <p:spPr>
          <a:xfrm>
            <a:off x="671057" y="2376170"/>
            <a:ext cx="45719" cy="4571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Connector 5"/>
          <p:cNvSpPr/>
          <p:nvPr/>
        </p:nvSpPr>
        <p:spPr>
          <a:xfrm>
            <a:off x="671056" y="3316329"/>
            <a:ext cx="45719" cy="4571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Google Shape;94;p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064468" y="0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743</Words>
  <Application>Microsoft Office PowerPoint</Application>
  <PresentationFormat>On-screen Show (16:9)</PresentationFormat>
  <Paragraphs>82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Times New Roman</vt:lpstr>
      <vt:lpstr>Calibri</vt:lpstr>
      <vt:lpstr>Oswald</vt:lpstr>
      <vt:lpstr>Garamond</vt:lpstr>
      <vt:lpstr>Lexend</vt:lpstr>
      <vt:lpstr>Arial</vt:lpstr>
      <vt:lpstr>Simple Light</vt:lpstr>
      <vt:lpstr>Office Theme</vt:lpstr>
      <vt:lpstr>SMART INDIA HACKATHON 2025</vt:lpstr>
      <vt:lpstr>Idea/Approach</vt:lpstr>
      <vt:lpstr>Userflow</vt:lpstr>
      <vt:lpstr>Technology Stack 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Thakur college</cp:lastModifiedBy>
  <cp:revision>5</cp:revision>
  <dcterms:created xsi:type="dcterms:W3CDTF">2025-09-16T19:30:44Z</dcterms:created>
  <dcterms:modified xsi:type="dcterms:W3CDTF">2025-09-17T06:48:47Z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F69E41114E814708ABFC0BE06118A8EB_12</vt:lpwstr>
  </property>
  <property fmtid="{D5CDD505-2E9C-101B-9397-08002B2CF9AE}" pid="3" name="KSOProductBuildVer">
    <vt:lpwstr>1033-12.2.0.22549</vt:lpwstr>
  </property>
</Properties>
</file>