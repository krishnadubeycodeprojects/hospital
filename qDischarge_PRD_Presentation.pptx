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5" r:id="rId9"/>
    <p:sldId id="261" r:id="rId11"/>
    <p:sldId id="262" r:id="rId12"/>
    <p:sldId id="263" r:id="rId13"/>
    <p:sldId id="264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0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176" y="1420283"/>
            <a:ext cx="5181330" cy="9800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352" y="2590800"/>
            <a:ext cx="4266978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17" y="2937933"/>
            <a:ext cx="518133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17" y="1937809"/>
            <a:ext cx="518133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784" y="1066800"/>
            <a:ext cx="269226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639" y="1066800"/>
            <a:ext cx="269226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84" y="1023409"/>
            <a:ext cx="2693318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784" y="1449917"/>
            <a:ext cx="2693318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522" y="1023409"/>
            <a:ext cx="2694376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522" y="1449917"/>
            <a:ext cx="2694376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84" y="182033"/>
            <a:ext cx="2005438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243" y="182033"/>
            <a:ext cx="3407656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84" y="956733"/>
            <a:ext cx="2005438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796" y="3200400"/>
            <a:ext cx="365741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796" y="408517"/>
            <a:ext cx="365741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796" y="3578225"/>
            <a:ext cx="365741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370" y="183092"/>
            <a:ext cx="1371529" cy="39010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784" y="183092"/>
            <a:ext cx="4012991" cy="39010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84" y="183092"/>
            <a:ext cx="5486114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84" y="1066800"/>
            <a:ext cx="5486114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784" y="4237567"/>
            <a:ext cx="1422326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692" y="4237567"/>
            <a:ext cx="1930299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572" y="4237567"/>
            <a:ext cx="1422326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2.png"/><Relationship Id="rId16" Type="http://schemas.openxmlformats.org/officeDocument/2006/relationships/image" Target="../media/image21.png"/><Relationship Id="rId15" Type="http://schemas.openxmlformats.org/officeDocument/2006/relationships/image" Target="../media/image20.png"/><Relationship Id="rId14" Type="http://schemas.openxmlformats.org/officeDocument/2006/relationships/image" Target="../media/image19.png"/><Relationship Id="rId13" Type="http://schemas.openxmlformats.org/officeDocument/2006/relationships/image" Target="../media/image18.png"/><Relationship Id="rId12" Type="http://schemas.openxmlformats.org/officeDocument/2006/relationships/image" Target="../media/image17.png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846320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14A3AE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55480" y="-502919"/>
            <a:ext cx="2103120" cy="2103120"/>
          </a:xfrm>
          <a:prstGeom prst="ellipse">
            <a:avLst/>
          </a:prstGeom>
          <a:solidFill>
            <a:srgbClr val="13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79" y="2834639"/>
            <a:ext cx="1463040" cy="1463040"/>
          </a:xfrm>
          <a:prstGeom prst="ellipse">
            <a:avLst/>
          </a:prstGeom>
          <a:solidFill>
            <a:srgbClr val="0C6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502920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BFEFEA"/>
                </a:solidFill>
                <a:latin typeface="Calibri" panose="020F0502020204030204"/>
              </a:rPr>
              <a:t>PRODUCT REQUIREMENTS DOCUMENT</a:t>
            </a:r>
            <a:endParaRPr sz="12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1234440"/>
            <a:ext cx="10789920" cy="10515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 panose="020F0502020204030204"/>
              </a:rPr>
              <a:t>qDischarge</a:t>
            </a:r>
            <a:endParaRPr sz="5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969264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E7F7F5"/>
                </a:solidFill>
                <a:latin typeface="Calibri" panose="020F0502020204030204"/>
              </a:rPr>
              <a:t>A WhatsApp-driven clinic queue management platform — booking, geo-aware</a:t>
            </a:r>
            <a:endParaRPr sz="1550" b="0" i="0">
              <a:solidFill>
                <a:srgbClr val="E7F7F5"/>
              </a:solidFill>
              <a:latin typeface="Calibri" panose="020F0502020204030204"/>
            </a:endParaRPr>
          </a:p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E7F7F5"/>
                </a:solidFill>
                <a:latin typeface="Calibri" panose="020F0502020204030204"/>
              </a:rPr>
              <a:t>arrival, multi-counter routing and consent-based records on one rail.</a:t>
            </a:r>
            <a:endParaRPr sz="1550" b="0" i="0">
              <a:solidFill>
                <a:srgbClr val="E7F7F5"/>
              </a:solidFill>
              <a:latin typeface="Calibri" panose="020F050202020403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3246120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PLATFORM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WhatsApp + Web + REST API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51960" y="3246120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STACK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Spring Boot · PostgreSQL · React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63840" y="3246120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DOMAIN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Outpatient queue &amp; access management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050791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VERSION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v2.0 — Hardened Release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1960" y="4050791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AUTHOR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Krishna Dubey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863840" y="4050791"/>
            <a:ext cx="3429000" cy="658368"/>
          </a:xfrm>
          <a:prstGeom prst="roundRect">
            <a:avLst>
              <a:gd name="adj" fmla="val 12000"/>
            </a:avLst>
          </a:prstGeom>
          <a:solidFill>
            <a:srgbClr val="0B5C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73152" bIns="36576" rtlCol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7FD9CE"/>
                </a:solidFill>
                <a:latin typeface="Calibri" panose="020F0502020204030204"/>
              </a:rPr>
              <a:t>DATE</a:t>
            </a:r>
            <a:endParaRPr sz="900" b="1">
              <a:solidFill>
                <a:srgbClr val="7FD9CE"/>
              </a:solidFill>
              <a:latin typeface="Calibri" panose="020F0502020204030204"/>
            </a:endParaRPr>
          </a:p>
          <a:p>
            <a:pPr algn="l"/>
            <a:r>
              <a:rPr sz="1250" b="1">
                <a:solidFill>
                  <a:srgbClr val="FFFFFF"/>
                </a:solidFill>
                <a:latin typeface="Calibri" panose="020F0502020204030204"/>
              </a:rPr>
              <a:t>16 Aug 2026</a:t>
            </a:r>
            <a:endParaRPr sz="125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4846320"/>
            <a:ext cx="12191695" cy="201168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E7C86"/>
                </a:solidFill>
                <a:latin typeface="Calibri" panose="020F0502020204030204"/>
              </a:rPr>
              <a:t>WHY IT EXISTS</a:t>
            </a:r>
            <a:endParaRPr sz="1150" b="1" i="0">
              <a:solidFill>
                <a:srgbClr val="0E7C86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5321808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F2937"/>
                </a:solidFill>
                <a:latin typeface="Calibri" panose="020F0502020204030204"/>
              </a:rPr>
              <a:t>Outpatient departments run on paper tokens and a crowded waiting hall: patients arrive early "just in case", front desks re-key the same details by hand, and a missed call means a lost turn. qDischarge replaces that with a number every patient already has — WhatsApp — plus a hospital-grade backend that tracks position, ETA and consent end to end.</a:t>
            </a: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" y="626364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5B63"/>
                </a:solidFill>
                <a:latin typeface="Calibri" panose="020F0502020204030204"/>
              </a:rPr>
              <a:t>Patients</a:t>
            </a:r>
            <a:endParaRPr sz="110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24912" y="626364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5B63"/>
                </a:solidFill>
                <a:latin typeface="Calibri" panose="020F0502020204030204"/>
              </a:rPr>
              <a:t>Front-desk Admins</a:t>
            </a:r>
            <a:endParaRPr sz="110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09744" y="626364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5B63"/>
                </a:solidFill>
                <a:latin typeface="Calibri" panose="020F0502020204030204"/>
              </a:rPr>
              <a:t>Doctors</a:t>
            </a:r>
            <a:endParaRPr sz="110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94576" y="626364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A5B63"/>
                </a:solidFill>
                <a:latin typeface="Calibri" panose="020F0502020204030204"/>
              </a:rPr>
              <a:t>Hospital Ops</a:t>
            </a:r>
            <a:endParaRPr sz="110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5360" y="63093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B73"/>
                </a:solidFill>
                <a:latin typeface="Calibri" panose="020F0502020204030204"/>
              </a:rPr>
              <a:t>SIH-style deck · qDischarge Team</a:t>
            </a:r>
            <a:endParaRPr sz="950" b="0" i="0">
              <a:solidFill>
                <a:srgbClr val="5B6B73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PROBLEM STATEMENT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The Problem, and Our Vision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20700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C97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PROBLEMS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1627632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1DC"/>
          </a:solidFill>
          <a:ln w="1270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4A05"/>
                </a:solidFill>
                <a:latin typeface="Calibri" panose="020F0502020204030204"/>
              </a:rPr>
              <a:t>Paper tokens, no visibility</a:t>
            </a:r>
            <a:endParaRPr sz="1300" b="1">
              <a:solidFill>
                <a:srgbClr val="8A4A05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80">
                <a:solidFill>
                  <a:srgbClr val="1F2937"/>
                </a:solidFill>
                <a:latin typeface="Calibri" panose="020F0502020204030204"/>
              </a:rPr>
              <a:t>Patients queue on a printed number with no live wait estimate, so they arrive early and crowd the OPD hall.</a:t>
            </a:r>
            <a:endParaRPr sz="108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670048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1DC"/>
          </a:solidFill>
          <a:ln w="1270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4A05"/>
                </a:solidFill>
                <a:latin typeface="Calibri" panose="020F0502020204030204"/>
              </a:rPr>
              <a:t>Front-desk re-keying</a:t>
            </a:r>
            <a:endParaRPr sz="1300" b="1">
              <a:solidFill>
                <a:srgbClr val="8A4A05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80">
                <a:solidFill>
                  <a:srgbClr val="1F2937"/>
                </a:solidFill>
                <a:latin typeface="Calibri" panose="020F0502020204030204"/>
              </a:rPr>
              <a:t>Name, age and phone are re-entered by hand every visit; there is no durable per-patient visit trail to reuse.</a:t>
            </a:r>
            <a:endParaRPr sz="108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712463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1DC"/>
          </a:solidFill>
          <a:ln w="1270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4A05"/>
                </a:solidFill>
                <a:latin typeface="Calibri" panose="020F0502020204030204"/>
              </a:rPr>
              <a:t>Missed turns, lost slots</a:t>
            </a:r>
            <a:endParaRPr sz="1300" b="1">
              <a:solidFill>
                <a:srgbClr val="8A4A05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80">
                <a:solidFill>
                  <a:srgbClr val="1F2937"/>
                </a:solidFill>
                <a:latin typeface="Calibri" panose="020F0502020204030204"/>
              </a:rPr>
              <a:t>A missed announcement or a step-out and the token silently disappears — no recovery path back into the line.</a:t>
            </a:r>
            <a:endParaRPr sz="108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4754879"/>
            <a:ext cx="5440680" cy="914400"/>
          </a:xfrm>
          <a:prstGeom prst="roundRect">
            <a:avLst>
              <a:gd name="adj" fmla="val 10000"/>
            </a:avLst>
          </a:prstGeom>
          <a:solidFill>
            <a:srgbClr val="FFF1DC"/>
          </a:solidFill>
          <a:ln w="1270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8229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A4A05"/>
                </a:solidFill>
                <a:latin typeface="Calibri" panose="020F0502020204030204"/>
              </a:rPr>
              <a:t>Fragmented records</a:t>
            </a:r>
            <a:endParaRPr sz="1300" b="1">
              <a:solidFill>
                <a:srgbClr val="8A4A05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1080">
                <a:solidFill>
                  <a:srgbClr val="1F2937"/>
                </a:solidFill>
                <a:latin typeface="Calibri" panose="020F0502020204030204"/>
              </a:rPr>
              <a:t>Prescriptions and reports live on paper or siloed apps; a doctor can't see them without the patient carrying them in.</a:t>
            </a:r>
            <a:endParaRPr sz="108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2070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VISION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1627632"/>
            <a:ext cx="5422392" cy="196596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0E7C86"/>
              </a:gs>
              <a:gs pos="100000">
                <a:srgbClr val="0A5B63"/>
              </a:gs>
            </a:gsLst>
            <a:lin ang="18900000" scaled="0"/>
          </a:gradFill>
          <a:ln w="1905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36576" rIns="256032" bIns="36576" rtlCol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550" b="1" i="1">
                <a:solidFill>
                  <a:srgbClr val="FFFFFF"/>
                </a:solidFill>
                <a:latin typeface="Calibri" panose="020F0502020204030204"/>
              </a:rPr>
              <a:t>“One WhatsApp number should take a patient from booking to being seen — with a live position, a geo-aware ‘leave now’ nudge, and a durable, consent-gated medical record trail behind it.”</a:t>
            </a:r>
            <a:endParaRPr sz="1550" b="1" i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794760"/>
            <a:ext cx="1709928" cy="105156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A5B63"/>
                </a:solidFill>
                <a:latin typeface="Calibri" panose="020F0502020204030204"/>
              </a:rPr>
              <a:t>0</a:t>
            </a:r>
            <a:endParaRPr sz="2200" b="1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1F2937"/>
                </a:solidFill>
                <a:latin typeface="Calibri" panose="020F0502020204030204"/>
              </a:rPr>
              <a:t>apps to
install</a:t>
            </a:r>
            <a:endParaRPr sz="95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19871" y="3794760"/>
            <a:ext cx="1709928" cy="105156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A5B63"/>
                </a:solidFill>
                <a:latin typeface="Calibri" panose="020F0502020204030204"/>
              </a:rPr>
              <a:t>24h</a:t>
            </a:r>
            <a:endParaRPr sz="2200" b="1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1F2937"/>
                </a:solidFill>
                <a:latin typeface="Calibri" panose="020F0502020204030204"/>
              </a:rPr>
              <a:t>token
validity</a:t>
            </a:r>
            <a:endParaRPr sz="95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976104" y="3794760"/>
            <a:ext cx="1709928" cy="105156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A5B63"/>
                </a:solidFill>
                <a:latin typeface="Calibri" panose="020F0502020204030204"/>
              </a:rPr>
              <a:t>N/A</a:t>
            </a:r>
            <a:endParaRPr sz="2200" b="1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1F2937"/>
                </a:solidFill>
                <a:latin typeface="Calibri" panose="020F0502020204030204"/>
              </a:rPr>
              <a:t>front-desk
re-typing</a:t>
            </a:r>
            <a:endParaRPr sz="95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507492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WHO FEELS THE CHANGE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263640" y="5486400"/>
            <a:ext cx="5422392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Patients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wait off-site and get pinged when it's really time to head over.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Front desks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stop re-typing history — every visit is already on file.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Doctors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see records the moment a patient grants access, not before.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IDEA &amp; APPROACH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Eight Ideas, One Queue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WhatsApp-First Booking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Book, track and get notified inside one WhatsApp thread — no app install, a session-driven bot flow end to end.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2681478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5216" y="159105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D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 panose="020F0502020204030204"/>
              </a:rPr>
              <a:t>01</a:t>
            </a:r>
            <a:endParaRPr sz="1300" b="1" i="0">
              <a:solidFill>
                <a:srgbClr val="0E7C86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321558" y="137160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DIGIPIN Geo-ETA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Share location once; straight-line distance becomes an ETA that decides exactly when to send “leave now.”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321558" y="1371600"/>
            <a:ext cx="2681478" cy="11887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449574" y="159105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E3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9E5B"/>
                </a:solidFill>
                <a:latin typeface="Calibri" panose="020F0502020204030204"/>
              </a:rPr>
              <a:t>02</a:t>
            </a:r>
            <a:endParaRPr sz="1300" b="1" i="0">
              <a:solidFill>
                <a:srgbClr val="2E9E5B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85916" y="137160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Multi-Counter Routing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Each counter pulls only its own next-eligible token, so one busy counter never blocks the others.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85916" y="1371600"/>
            <a:ext cx="2681478" cy="118872"/>
          </a:xfrm>
          <a:prstGeom prst="rect">
            <a:avLst/>
          </a:prstGeom>
          <a:solidFill>
            <a:srgbClr val="C97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313932" y="159105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FF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7A15"/>
                </a:solidFill>
                <a:latin typeface="Calibri" panose="020F0502020204030204"/>
              </a:rPr>
              <a:t>03</a:t>
            </a:r>
            <a:endParaRPr sz="1300" b="1" i="0">
              <a:solidFill>
                <a:srgbClr val="C97A15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50274" y="137160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Missed-Queue Recovery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Auto-skipped tokens land in a searchable missed queue — requeue to front or reject, never just vanish.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50274" y="1371600"/>
            <a:ext cx="2681478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78290" y="159105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C3AED"/>
                </a:solidFill>
                <a:latin typeface="Calibri" panose="020F0502020204030204"/>
              </a:rPr>
              <a:t>04</a:t>
            </a:r>
            <a:endParaRPr sz="1300" b="1" i="0">
              <a:solidFill>
                <a:srgbClr val="7C3AED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OTP-Gated Registration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Optional phone verification (Twilio Verify / SMS, WhatsApp fallback) required before a token is created.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931920"/>
            <a:ext cx="2681478" cy="11887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5216" y="415137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DF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Calibri" panose="020F0502020204030204"/>
              </a:rPr>
              <a:t>05</a:t>
            </a:r>
            <a:endParaRPr sz="1300" b="1" i="0">
              <a:solidFill>
                <a:srgbClr val="0E7C86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321558" y="393192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Consent-Based Records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Patients upload prescriptions and reports; doctors see them only after a consent grant — revocable anytime.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321558" y="3931920"/>
            <a:ext cx="2681478" cy="118872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449574" y="415137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E3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E9E5B"/>
                </a:solidFill>
                <a:latin typeface="Calibri" panose="020F0502020204030204"/>
              </a:rPr>
              <a:t>06</a:t>
            </a:r>
            <a:endParaRPr sz="1300" b="1" i="0">
              <a:solidFill>
                <a:srgbClr val="2E9E5B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185916" y="393192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Doctor Join + QR Access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Doctors join a hospital via a rotating code; access requests are short-lived QR codes claimed on the patient's device.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85916" y="3931920"/>
            <a:ext cx="2681478" cy="118872"/>
          </a:xfrm>
          <a:prstGeom prst="rect">
            <a:avLst/>
          </a:prstGeom>
          <a:solidFill>
            <a:srgbClr val="C97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313932" y="415137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FF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C97A15"/>
                </a:solidFill>
                <a:latin typeface="Calibri" panose="020F0502020204030204"/>
              </a:rPr>
              <a:t>07</a:t>
            </a:r>
            <a:endParaRPr sz="1300" b="1" i="0">
              <a:solidFill>
                <a:srgbClr val="C97A15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050274" y="3931920"/>
            <a:ext cx="2681478" cy="2331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13232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F2937"/>
                </a:solidFill>
                <a:latin typeface="Calibri" panose="020F0502020204030204"/>
              </a:rPr>
              <a:t>WhatsApp Provider Failover</a:t>
            </a:r>
            <a:endParaRPr sz="1350" b="1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000">
                <a:solidFill>
                  <a:srgbClr val="5B6B73"/>
                </a:solidFill>
                <a:latin typeface="Calibri" panose="020F0502020204030204"/>
              </a:rPr>
              <a:t>Meta Cloud API and Evolution API back each other up, so one outage doesn't silently drop a patient notification.</a:t>
            </a:r>
            <a:endParaRPr sz="100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50274" y="3931920"/>
            <a:ext cx="2681478" cy="1188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178290" y="4151376"/>
            <a:ext cx="502920" cy="365760"/>
          </a:xfrm>
          <a:prstGeom prst="roundRect">
            <a:avLst>
              <a:gd name="adj" fmla="val 30000"/>
            </a:avLst>
          </a:prstGeom>
          <a:solidFill>
            <a:srgbClr val="F1E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C3AED"/>
                </a:solidFill>
                <a:latin typeface="Calibri" panose="020F0502020204030204"/>
              </a:rPr>
              <a:t>08</a:t>
            </a:r>
            <a:endParaRPr sz="1300" b="1" i="0">
              <a:solidFill>
                <a:srgbClr val="7C3AED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TECHNICAL APPROACH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System Architecture — Layered View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207008"/>
            <a:ext cx="2681478" cy="749808"/>
          </a:xfrm>
          <a:prstGeom prst="roundRect">
            <a:avLst>
              <a:gd name="adj" fmla="val 35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Patient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WhatsApp Bot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21558" y="1207008"/>
            <a:ext cx="2681478" cy="749808"/>
          </a:xfrm>
          <a:prstGeom prst="roundRect">
            <a:avLst>
              <a:gd name="adj" fmla="val 35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Patient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Web / PWA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85916" y="1207008"/>
            <a:ext cx="2681478" cy="749808"/>
          </a:xfrm>
          <a:prstGeom prst="roundRect">
            <a:avLst>
              <a:gd name="adj" fmla="val 35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Admin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Dashboard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50274" y="1207008"/>
            <a:ext cx="2681478" cy="749808"/>
          </a:xfrm>
          <a:prstGeom prst="roundRect">
            <a:avLst>
              <a:gd name="adj" fmla="val 35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Doctor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6B3A"/>
                </a:solidFill>
                <a:latin typeface="Calibri" panose="020F0502020204030204"/>
              </a:rPr>
              <a:t>Portal</a:t>
            </a:r>
            <a:endParaRPr sz="1150" b="1" i="0">
              <a:solidFill>
                <a:srgbClr val="1F6B3A"/>
              </a:solidFill>
              <a:latin typeface="Calibri" panose="020F050202020403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6094476" y="1956816"/>
            <a:ext cx="0" cy="146304"/>
          </a:xfrm>
          <a:prstGeom prst="line">
            <a:avLst/>
          </a:prstGeom>
          <a:ln w="2222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" y="2103120"/>
            <a:ext cx="11274552" cy="457200"/>
          </a:xfrm>
          <a:prstGeom prst="roundRect">
            <a:avLst>
              <a:gd name="adj" fmla="val 15000"/>
            </a:avLst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 panose="020F0502020204030204"/>
              </a:rPr>
              <a:t>Spring Boot REST API  ·  JWT Auth  ·  BCrypt  ·  Rate Limiting  ·  CORS Allowlist  ·  Bean Validation</a:t>
            </a:r>
            <a:endParaRPr sz="1250" b="1" i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94476" y="2560320"/>
            <a:ext cx="0" cy="146304"/>
          </a:xfrm>
          <a:prstGeom prst="line">
            <a:avLst/>
          </a:prstGeom>
          <a:ln w="2222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57200" y="2706624"/>
            <a:ext cx="11274552" cy="1371600"/>
          </a:xfrm>
          <a:prstGeom prst="roundRect">
            <a:avLst>
              <a:gd name="adj" fmla="val 6000"/>
            </a:avLst>
          </a:prstGeom>
          <a:solidFill>
            <a:srgbClr val="EEF2F4"/>
          </a:solidFill>
          <a:ln w="12700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2633472"/>
            <a:ext cx="1874519" cy="292608"/>
          </a:xfrm>
          <a:prstGeom prst="roundRect">
            <a:avLst>
              <a:gd name="adj" fmla="val 50000"/>
            </a:avLst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 panose="020F0502020204030204"/>
              </a:rPr>
              <a:t>SERVICE LAYER</a:t>
            </a:r>
            <a:endParaRPr sz="95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3504" y="303580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Queue Manager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380994" y="303580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Counter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Assignment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58484" y="303580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Geo / ETA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Service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35974" y="303580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OTP Service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3504" y="353872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Access &amp;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Consent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380994" y="353872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Doctor Service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58484" y="353872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WhatsApp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Dispatcher (Async)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935974" y="3538728"/>
            <a:ext cx="2649474" cy="411480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0A5B63"/>
                </a:solidFill>
                <a:latin typeface="Calibri" panose="020F0502020204030204"/>
              </a:rPr>
              <a:t>DIGIPIN Codec</a:t>
            </a:r>
            <a:endParaRPr sz="980" b="1" i="0">
              <a:solidFill>
                <a:srgbClr val="0A5B63"/>
              </a:solidFill>
              <a:latin typeface="Calibri" panose="020F0502020204030204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4078224"/>
            <a:ext cx="0" cy="146304"/>
          </a:xfrm>
          <a:prstGeom prst="line">
            <a:avLst/>
          </a:prstGeom>
          <a:ln w="2222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57200" y="4224528"/>
            <a:ext cx="3605784" cy="658368"/>
          </a:xfrm>
          <a:prstGeom prst="roundRect">
            <a:avLst>
              <a:gd name="adj" fmla="val 14000"/>
            </a:avLst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2A9E"/>
                </a:solidFill>
                <a:latin typeface="Calibri" panose="020F0502020204030204"/>
              </a:rPr>
              <a:t>Meta WhatsApp</a:t>
            </a:r>
            <a:endParaRPr sz="1100" b="1" i="0">
              <a:solidFill>
                <a:srgbClr val="5A2A9E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2A9E"/>
                </a:solidFill>
                <a:latin typeface="Calibri" panose="020F0502020204030204"/>
              </a:rPr>
              <a:t>Cloud API</a:t>
            </a:r>
            <a:endParaRPr sz="1100" b="1" i="0">
              <a:solidFill>
                <a:srgbClr val="5A2A9E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91584" y="4224528"/>
            <a:ext cx="3605784" cy="658368"/>
          </a:xfrm>
          <a:prstGeom prst="roundRect">
            <a:avLst>
              <a:gd name="adj" fmla="val 14000"/>
            </a:avLst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2A9E"/>
                </a:solidFill>
                <a:latin typeface="Calibri" panose="020F0502020204030204"/>
              </a:rPr>
              <a:t>Evolution API</a:t>
            </a:r>
            <a:endParaRPr sz="1100" b="1" i="0">
              <a:solidFill>
                <a:srgbClr val="5A2A9E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A2A9E"/>
                </a:solidFill>
                <a:latin typeface="Calibri" panose="020F0502020204030204"/>
              </a:rPr>
              <a:t>(auto-failover)</a:t>
            </a:r>
            <a:endParaRPr sz="1100" b="1" i="0">
              <a:solidFill>
                <a:srgbClr val="5A2A9E"/>
              </a:solidFill>
              <a:latin typeface="Calibri" panose="020F050202020403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125968" y="4224528"/>
            <a:ext cx="3605784" cy="658368"/>
          </a:xfrm>
          <a:prstGeom prst="roundRect">
            <a:avLst>
              <a:gd name="adj" fmla="val 14000"/>
            </a:avLst>
          </a:prstGeom>
          <a:solidFill>
            <a:srgbClr val="FFF1DC"/>
          </a:solidFill>
          <a:ln w="1397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4A05"/>
                </a:solidFill>
                <a:latin typeface="Calibri" panose="020F0502020204030204"/>
              </a:rPr>
              <a:t>Twilio Verify / SMS</a:t>
            </a:r>
            <a:endParaRPr sz="1100" b="1" i="0">
              <a:solidFill>
                <a:srgbClr val="8A4A05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8A4A05"/>
                </a:solidFill>
                <a:latin typeface="Calibri" panose="020F0502020204030204"/>
              </a:rPr>
              <a:t>(OTP delivery)</a:t>
            </a:r>
            <a:endParaRPr sz="1100" b="1" i="0">
              <a:solidFill>
                <a:srgbClr val="8A4A05"/>
              </a:solidFill>
              <a:latin typeface="Calibri" panose="020F05020202040302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094476" y="4882896"/>
            <a:ext cx="0" cy="146304"/>
          </a:xfrm>
          <a:prstGeom prst="line">
            <a:avLst/>
          </a:prstGeom>
          <a:ln w="2222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57200" y="5029200"/>
            <a:ext cx="8117677" cy="566928"/>
          </a:xfrm>
          <a:prstGeom prst="roundRect">
            <a:avLst>
              <a:gd name="adj" fmla="val 14000"/>
            </a:avLst>
          </a:prstGeom>
          <a:solidFill>
            <a:srgbClr val="FDEAF3"/>
          </a:solidFill>
          <a:ln w="13970">
            <a:solidFill>
              <a:srgbClr val="C23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8A2361"/>
                </a:solidFill>
                <a:latin typeface="Calibri" panose="020F0502020204030204"/>
              </a:rPr>
              <a:t>PostgreSQL  ·  Flyway-versioned schema  —  tokens · token_history · hospitals · patients · doctors · access_grants · counters</a:t>
            </a:r>
            <a:endParaRPr sz="1030" b="1" i="0">
              <a:solidFill>
                <a:srgbClr val="8A2361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757757" y="5029200"/>
            <a:ext cx="2973994" cy="566928"/>
          </a:xfrm>
          <a:prstGeom prst="roundRect">
            <a:avLst>
              <a:gd name="adj" fmla="val 14000"/>
            </a:avLst>
          </a:prstGeom>
          <a:solidFill>
            <a:srgbClr val="E7EE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E3A8A"/>
                </a:solidFill>
                <a:latin typeface="Calibri" panose="020F0502020204030204"/>
              </a:rPr>
              <a:t>Docker Compose</a:t>
            </a:r>
            <a:endParaRPr sz="980" b="1" i="0">
              <a:solidFill>
                <a:srgbClr val="1E3A8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980" b="1" i="0">
                <a:solidFill>
                  <a:srgbClr val="1E3A8A"/>
                </a:solidFill>
                <a:latin typeface="Calibri" panose="020F0502020204030204"/>
              </a:rPr>
              <a:t>app + Postgres · HikariCP pool</a:t>
            </a:r>
            <a:endParaRPr sz="980" b="1" i="0">
              <a:solidFill>
                <a:srgbClr val="1E3A8A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57200" y="6272784"/>
            <a:ext cx="201168" cy="146304"/>
          </a:xfrm>
          <a:prstGeom prst="roundRect">
            <a:avLst>
              <a:gd name="adj" fmla="val 40000"/>
            </a:avLst>
          </a:prstGeom>
          <a:solidFill>
            <a:srgbClr val="E3F6E8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3232" y="62499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Client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874519" y="6272784"/>
            <a:ext cx="201168" cy="146304"/>
          </a:xfrm>
          <a:prstGeom prst="roundRect">
            <a:avLst>
              <a:gd name="adj" fmla="val 40000"/>
            </a:avLst>
          </a:prstGeom>
          <a:solidFill>
            <a:srgbClr val="0E7C86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30552" y="62499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Gateway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291839" y="6272784"/>
            <a:ext cx="201168" cy="146304"/>
          </a:xfrm>
          <a:prstGeom prst="roundRect">
            <a:avLst>
              <a:gd name="adj" fmla="val 40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47872" y="62499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Service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709159" y="6272784"/>
            <a:ext cx="201168" cy="146304"/>
          </a:xfrm>
          <a:prstGeom prst="roundRect">
            <a:avLst>
              <a:gd name="adj" fmla="val 40000"/>
            </a:avLst>
          </a:prstGeom>
          <a:solidFill>
            <a:srgbClr val="F1E9FB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965192" y="62499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Integration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126479" y="6272784"/>
            <a:ext cx="201168" cy="146304"/>
          </a:xfrm>
          <a:prstGeom prst="roundRect">
            <a:avLst>
              <a:gd name="adj" fmla="val 40000"/>
            </a:avLst>
          </a:prstGeom>
          <a:solidFill>
            <a:srgbClr val="FDEAF3"/>
          </a:solidFill>
          <a:ln w="12700">
            <a:solidFill>
              <a:srgbClr val="C23B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382512" y="62499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Data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TECHNICAL APPROACH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End-to-End Flow — Patient to Completed Visit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143000" cy="502920"/>
          </a:xfrm>
          <a:prstGeom prst="roundRect">
            <a:avLst>
              <a:gd name="adj" fmla="val 50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20" b="1" i="0">
                <a:solidFill>
                  <a:srgbClr val="1F6B3A"/>
                </a:solidFill>
                <a:latin typeface="Calibri" panose="020F0502020204030204"/>
              </a:rPr>
              <a:t>Patient</a:t>
            </a:r>
            <a:endParaRPr sz="102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73989" y="1654149"/>
            <a:ext cx="237744" cy="237744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FFFFFF"/>
                </a:solidFill>
                <a:latin typeface="Calibri" panose="020F0502020204030204"/>
              </a:rPr>
              <a:t>P</a:t>
            </a:r>
            <a:endParaRPr sz="86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828800" y="1554480"/>
            <a:ext cx="1508760" cy="822960"/>
          </a:xfrm>
          <a:prstGeom prst="ellipse">
            <a:avLst/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6B3A"/>
                </a:solidFill>
                <a:latin typeface="Calibri" panose="020F0502020204030204"/>
              </a:rPr>
              <a:t>WhatsApp session</a:t>
            </a:r>
            <a:endParaRPr sz="100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6B3A"/>
                </a:solidFill>
                <a:latin typeface="Calibri" panose="020F0502020204030204"/>
              </a:rPr>
              <a:t>starts</a:t>
            </a:r>
            <a:endParaRPr sz="100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6160" y="1691640"/>
            <a:ext cx="1417320" cy="548640"/>
          </a:xfrm>
          <a:prstGeom prst="roundRect">
            <a:avLst/>
          </a:prstGeom>
          <a:solidFill>
            <a:srgbClr val="DFF3F1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0A5B63"/>
                </a:solidFill>
                <a:latin typeface="Calibri" panose="020F0502020204030204"/>
              </a:rPr>
              <a:t>Enter name</a:t>
            </a:r>
            <a:endParaRPr sz="100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0A5B63"/>
                </a:solidFill>
                <a:latin typeface="Calibri" panose="020F0502020204030204"/>
              </a:rPr>
              <a:t>&amp; age</a:t>
            </a:r>
            <a:endParaRPr sz="100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14" name="Diamond 13"/>
          <p:cNvSpPr/>
          <p:nvPr/>
        </p:nvSpPr>
        <p:spPr>
          <a:xfrm>
            <a:off x="5257800" y="1417320"/>
            <a:ext cx="1371600" cy="1051560"/>
          </a:xfrm>
          <a:prstGeom prst="diamond">
            <a:avLst/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4C2489"/>
                </a:solidFill>
                <a:latin typeface="Calibri" panose="020F0502020204030204"/>
              </a:rPr>
              <a:t>OTP</a:t>
            </a:r>
            <a:endParaRPr sz="1000" b="1" i="0">
              <a:solidFill>
                <a:srgbClr val="4C2489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1000" b="1" i="0">
                <a:solidFill>
                  <a:srgbClr val="4C2489"/>
                </a:solidFill>
                <a:latin typeface="Calibri" panose="020F0502020204030204"/>
              </a:rPr>
              <a:t>required?</a:t>
            </a:r>
            <a:endParaRPr sz="1000" b="1" i="0">
              <a:solidFill>
                <a:srgbClr val="4C2489"/>
              </a:solidFill>
              <a:latin typeface="Calibri" panose="020F050202020403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325880"/>
            <a:ext cx="4370832" cy="178308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050024" y="1179576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REGISTRATION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050024" y="1709928"/>
            <a:ext cx="1286255" cy="12527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Verify OTP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(if required)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46008" y="1709928"/>
            <a:ext cx="1286255" cy="12527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Create token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(status: waiting)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841991" y="1709928"/>
            <a:ext cx="1286255" cy="1252728"/>
          </a:xfrm>
          <a:prstGeom prst="roundRect">
            <a:avLst>
              <a:gd name="adj" fmla="val 12000"/>
            </a:avLst>
          </a:prstGeom>
          <a:solidFill>
            <a:srgbClr val="DFF3F1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Assign queue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0A5B63"/>
                </a:solidFill>
                <a:latin typeface="Calibri" panose="020F0502020204030204"/>
              </a:rPr>
              <a:t>position</a:t>
            </a:r>
            <a:endParaRPr sz="960" b="1" i="0">
              <a:solidFill>
                <a:srgbClr val="0A5B63"/>
              </a:solidFill>
              <a:latin typeface="Calibri" panose="020F0502020204030204"/>
            </a:endParaRPr>
          </a:p>
        </p:txBody>
      </p:sp>
      <p:cxnSp>
        <p:nvCxnSpPr>
          <p:cNvPr id="20" name="Connector 19"/>
          <p:cNvCxnSpPr/>
          <p:nvPr/>
        </p:nvCxnSpPr>
        <p:spPr>
          <a:xfrm flipV="1">
            <a:off x="1600200" y="1965960"/>
            <a:ext cx="228600" cy="18288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337560" y="1965960"/>
            <a:ext cx="228600" cy="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3480" y="1965960"/>
            <a:ext cx="274320" cy="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629400" y="1938528"/>
            <a:ext cx="274320" cy="164592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0" y="2514600"/>
            <a:ext cx="1691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B73"/>
                </a:solidFill>
                <a:latin typeface="Calibri" panose="020F0502020204030204"/>
              </a:rPr>
              <a:t>yes → verify code</a:t>
            </a:r>
            <a:endParaRPr sz="800" b="0" i="1">
              <a:solidFill>
                <a:srgbClr val="5B6B73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B6B73"/>
                </a:solidFill>
                <a:latin typeface="Calibri" panose="020F0502020204030204"/>
              </a:rPr>
              <a:t>no → skip straight through</a:t>
            </a:r>
            <a:endParaRPr sz="800" b="0" i="1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57200" y="3931920"/>
            <a:ext cx="4297680" cy="173736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3504" y="3785615"/>
            <a:ext cx="2569464" cy="292608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NOTIFICATION &amp; ARRIVAL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4315968"/>
            <a:ext cx="1261872" cy="1207008"/>
          </a:xfrm>
          <a:prstGeom prst="roundRect">
            <a:avLst>
              <a:gd name="adj" fmla="val 12000"/>
            </a:avLst>
          </a:prstGeom>
          <a:solidFill>
            <a:srgbClr val="E7EEFF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Share location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(optional)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975104" y="4315968"/>
            <a:ext cx="1261872" cy="1207008"/>
          </a:xfrm>
          <a:prstGeom prst="roundRect">
            <a:avLst>
              <a:gd name="adj" fmla="val 12000"/>
            </a:avLst>
          </a:prstGeom>
          <a:solidFill>
            <a:srgbClr val="E7EEFF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Distance → ETA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computed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46704" y="4315968"/>
            <a:ext cx="1261872" cy="1207008"/>
          </a:xfrm>
          <a:prstGeom prst="roundRect">
            <a:avLst>
              <a:gd name="adj" fmla="val 12000"/>
            </a:avLst>
          </a:prstGeom>
          <a:solidFill>
            <a:srgbClr val="E7EEFF"/>
          </a:solidFill>
          <a:ln w="1270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Send “leave now”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E3A8A"/>
                </a:solidFill>
                <a:latin typeface="Calibri" panose="020F0502020204030204"/>
              </a:rPr>
              <a:t>@ N tokens ahead</a:t>
            </a:r>
            <a:endParaRPr sz="960" b="1" i="0">
              <a:solidFill>
                <a:srgbClr val="1E3A8A"/>
              </a:solidFill>
              <a:latin typeface="Calibri" panose="020F0502020204030204"/>
            </a:endParaRPr>
          </a:p>
        </p:txBody>
      </p:sp>
      <p:sp>
        <p:nvSpPr>
          <p:cNvPr id="30" name="Diamond 29"/>
          <p:cNvSpPr/>
          <p:nvPr/>
        </p:nvSpPr>
        <p:spPr>
          <a:xfrm>
            <a:off x="5074920" y="4160520"/>
            <a:ext cx="1508760" cy="1097280"/>
          </a:xfrm>
          <a:prstGeom prst="diamond">
            <a:avLst/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960" b="1" i="0">
                <a:solidFill>
                  <a:srgbClr val="4C2489"/>
                </a:solidFill>
                <a:latin typeface="Calibri" panose="020F0502020204030204"/>
              </a:rPr>
              <a:t>Checked in via</a:t>
            </a:r>
            <a:endParaRPr sz="960" b="1" i="0">
              <a:solidFill>
                <a:srgbClr val="4C2489"/>
              </a:solidFill>
              <a:latin typeface="Calibri" panose="020F0502020204030204"/>
            </a:endParaRPr>
          </a:p>
          <a:p>
            <a:pPr algn="ctr">
              <a:lnSpc>
                <a:spcPct val="90000"/>
              </a:lnSpc>
            </a:pPr>
            <a:r>
              <a:rPr sz="960" b="1" i="0">
                <a:solidFill>
                  <a:srgbClr val="4C2489"/>
                </a:solidFill>
                <a:latin typeface="Calibri" panose="020F0502020204030204"/>
              </a:rPr>
              <a:t>QR before</a:t>
            </a:r>
            <a:endParaRPr sz="960" b="1" i="0">
              <a:solidFill>
                <a:srgbClr val="4C2489"/>
              </a:solidFill>
              <a:latin typeface="Calibri" panose="020F0502020204030204"/>
            </a:endParaRPr>
          </a:p>
          <a:p>
            <a:pPr algn="ctr">
              <a:lnSpc>
                <a:spcPct val="90000"/>
              </a:lnSpc>
            </a:pPr>
            <a:r>
              <a:rPr sz="960" b="1" i="0">
                <a:solidFill>
                  <a:srgbClr val="4C2489"/>
                </a:solidFill>
                <a:latin typeface="Calibri" panose="020F0502020204030204"/>
              </a:rPr>
              <a:t>turn comes up?</a:t>
            </a:r>
            <a:endParaRPr sz="960" b="1" i="0">
              <a:solidFill>
                <a:srgbClr val="4C2489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903720" y="3931920"/>
            <a:ext cx="4370832" cy="1737360"/>
          </a:xfrm>
          <a:prstGeom prst="roundRect">
            <a:avLst>
              <a:gd name="adj" fmla="val 5000"/>
            </a:avLst>
          </a:prstGeom>
          <a:solidFill>
            <a:srgbClr val="EEF2F4"/>
          </a:solidFill>
          <a:ln w="12700">
            <a:solidFill>
              <a:srgbClr val="5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050024" y="3785615"/>
            <a:ext cx="2359152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Calibri" panose="020F0502020204030204"/>
              </a:rPr>
              <a:t>SERVING &amp; COMPLETION</a:t>
            </a:r>
            <a:endParaRPr sz="9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050024" y="4315968"/>
            <a:ext cx="1286255" cy="1207008"/>
          </a:xfrm>
          <a:prstGeom prst="roundRect">
            <a:avLst>
              <a:gd name="adj" fmla="val 12000"/>
            </a:avLst>
          </a:prstGeom>
          <a:solidFill>
            <a:srgbClr val="E3F6E8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Counter calls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token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446008" y="4315968"/>
            <a:ext cx="1286255" cy="1207008"/>
          </a:xfrm>
          <a:prstGeom prst="roundRect">
            <a:avLst>
              <a:gd name="adj" fmla="val 12000"/>
            </a:avLst>
          </a:prstGeom>
          <a:solidFill>
            <a:srgbClr val="E3F6E8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Mark status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serving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841991" y="4315968"/>
            <a:ext cx="1286255" cy="1207008"/>
          </a:xfrm>
          <a:prstGeom prst="roundRect">
            <a:avLst>
              <a:gd name="adj" fmla="val 12000"/>
            </a:avLst>
          </a:prstGeom>
          <a:solidFill>
            <a:srgbClr val="E3F6E8"/>
          </a:solidFill>
          <a:ln w="1270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Complete → archive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95000"/>
              </a:lnSpc>
            </a:pPr>
            <a:r>
              <a:rPr sz="960" b="1" i="0">
                <a:solidFill>
                  <a:srgbClr val="1F6B3A"/>
                </a:solidFill>
                <a:latin typeface="Calibri" panose="020F0502020204030204"/>
              </a:rPr>
              <a:t>to token_history</a:t>
            </a:r>
            <a:endParaRPr sz="96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189720" y="3273552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20" b="1" i="0">
                <a:solidFill>
                  <a:srgbClr val="1F6B3A"/>
                </a:solidFill>
                <a:latin typeface="Calibri" panose="020F0502020204030204"/>
              </a:rPr>
              <a:t>Admin</a:t>
            </a:r>
            <a:endParaRPr sz="1020" b="1" i="0">
              <a:solidFill>
                <a:srgbClr val="1F6B3A"/>
              </a:solidFill>
              <a:latin typeface="Calibri" panose="020F0502020204030204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9119311" y="3203143"/>
            <a:ext cx="201168" cy="201168"/>
          </a:xfrm>
          <a:prstGeom prst="ellipse">
            <a:avLst/>
          </a:prstGeom>
          <a:solidFill>
            <a:srgbClr val="2E9E5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5" b="1" i="0">
                <a:solidFill>
                  <a:srgbClr val="FFFFFF"/>
                </a:solidFill>
                <a:latin typeface="Calibri" panose="020F0502020204030204"/>
              </a:rPr>
              <a:t>A</a:t>
            </a:r>
            <a:endParaRPr sz="725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104120" y="3163824"/>
            <a:ext cx="1097280" cy="566928"/>
          </a:xfrm>
          <a:prstGeom prst="ellipse">
            <a:avLst/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880" b="1" i="0">
                <a:solidFill>
                  <a:srgbClr val="1F6B3A"/>
                </a:solidFill>
                <a:latin typeface="Calibri" panose="020F0502020204030204"/>
              </a:rPr>
              <a:t>Admin login</a:t>
            </a:r>
            <a:endParaRPr sz="880" b="1" i="0">
              <a:solidFill>
                <a:srgbClr val="1F6B3A"/>
              </a:solidFill>
              <a:latin typeface="Calibri" panose="020F0502020204030204"/>
            </a:endParaRPr>
          </a:p>
          <a:p>
            <a:pPr algn="ctr">
              <a:lnSpc>
                <a:spcPct val="90000"/>
              </a:lnSpc>
            </a:pPr>
            <a:r>
              <a:rPr sz="880" b="1" i="0">
                <a:solidFill>
                  <a:srgbClr val="1F6B3A"/>
                </a:solidFill>
                <a:latin typeface="Calibri" panose="020F0502020204030204"/>
              </a:rPr>
              <a:t>(JWT)</a:t>
            </a:r>
            <a:endParaRPr sz="880" b="1" i="0">
              <a:solidFill>
                <a:srgbClr val="1F6B3A"/>
              </a:solidFill>
              <a:latin typeface="Calibri" panose="020F0502020204030204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9966960" y="3429000"/>
            <a:ext cx="137160" cy="0"/>
          </a:xfrm>
          <a:prstGeom prst="line">
            <a:avLst/>
          </a:prstGeom>
          <a:ln w="1587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652760" y="3730752"/>
            <a:ext cx="0" cy="201168"/>
          </a:xfrm>
          <a:prstGeom prst="line">
            <a:avLst/>
          </a:prstGeom>
          <a:ln w="1587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977639" y="5806440"/>
            <a:ext cx="6035040" cy="457200"/>
          </a:xfrm>
          <a:prstGeom prst="roundRect">
            <a:avLst>
              <a:gd name="adj" fmla="val 40000"/>
            </a:avLst>
          </a:prstGeom>
          <a:solidFill>
            <a:srgbClr val="FFF1DC"/>
          </a:solidFill>
          <a:ln w="1397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A4A05"/>
                </a:solidFill>
                <a:latin typeface="Calibri" panose="020F0502020204030204"/>
              </a:rPr>
              <a:t>No →  Auto-skip to Missed Queue  —  admin requeues to front of line or rejects (JWT-gated)</a:t>
            </a:r>
            <a:endParaRPr sz="1000" b="1" i="0">
              <a:solidFill>
                <a:srgbClr val="8A4A05"/>
              </a:solidFill>
              <a:latin typeface="Calibri" panose="020F0502020204030204"/>
            </a:endParaRPr>
          </a:p>
        </p:txBody>
      </p:sp>
      <p:cxnSp>
        <p:nvCxnSpPr>
          <p:cNvPr id="42" name="Connector 41"/>
          <p:cNvCxnSpPr/>
          <p:nvPr/>
        </p:nvCxnSpPr>
        <p:spPr>
          <a:xfrm flipH="1">
            <a:off x="2606040" y="3108960"/>
            <a:ext cx="6483096" cy="822960"/>
          </a:xfrm>
          <a:prstGeom prst="bentConnector3">
            <a:avLst/>
          </a:prstGeom>
          <a:ln w="22225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4754880" y="4709160"/>
            <a:ext cx="320040" cy="9144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583680" y="4709160"/>
            <a:ext cx="320040" cy="9144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833872" y="5257800"/>
            <a:ext cx="1161288" cy="548640"/>
          </a:xfrm>
          <a:prstGeom prst="bentConnector3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291072"/>
            <a:ext cx="11247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B6B73"/>
                </a:solidFill>
                <a:latin typeface="Calibri" panose="020F0502020204030204"/>
              </a:rPr>
              <a:t>Legend: green = patient touchpoint · teal/cyan = registration &amp; core queue logic · blue = notification engine · purple = decision · amber = exception path</a:t>
            </a:r>
            <a:endParaRPr sz="850" b="0" i="1">
              <a:solidFill>
                <a:srgbClr val="5B6B73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1"/>
          <a:srcRect t="52440"/>
          <a:stretch>
            <a:fillRect/>
          </a:stretch>
        </p:blipFill>
        <p:spPr>
          <a:xfrm>
            <a:off x="4266978" y="635146"/>
            <a:ext cx="5867518" cy="1611123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rcRect l="11320" r="20547" b="49308"/>
          <a:stretch>
            <a:fillRect/>
          </a:stretch>
        </p:blipFill>
        <p:spPr>
          <a:xfrm>
            <a:off x="38098" y="661391"/>
            <a:ext cx="4203904" cy="187145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0">
            <a:off x="0" y="6354610"/>
            <a:ext cx="12191365" cy="503211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 rot="0">
            <a:off x="609568" y="-47444"/>
            <a:ext cx="10972229" cy="114294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defTabSz="914400">
                <a:lnSpc>
                  <a:spcPts val="6480"/>
                </a:lnSpc>
              </a:pPr>
              <a:r>
                <a:rPr lang="en-US" sz="36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TECHNICAL APPROACH</a:t>
              </a:r>
              <a:endParaRPr lang="en-US" sz="36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8737145" y="6356198"/>
            <a:ext cx="2844652" cy="365106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 defTabSz="914400">
                <a:lnSpc>
                  <a:spcPts val="2160"/>
                </a:lnSpc>
              </a:pPr>
              <a:r>
                <a:rPr lang="en-US" sz="1200" b="1">
                  <a:solidFill>
                    <a:srgbClr val="FFFFFF"/>
                  </a:solidFill>
                  <a:latin typeface="Arimo Bold" panose="020B0704020202020204"/>
                  <a:ea typeface="Arimo Bold" panose="020B0704020202020204"/>
                  <a:cs typeface="Arimo Bold" panose="020B0704020202020204"/>
                  <a:sym typeface="Arimo Bold" panose="020B0704020202020204"/>
                </a:rPr>
                <a:t>3</a:t>
              </a:r>
              <a:endParaRPr lang="en-US" sz="1200" b="1">
                <a:solidFill>
                  <a:srgbClr val="FFFFFF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4647958" y="6356198"/>
            <a:ext cx="3203834" cy="365106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 defTabSz="914400">
                <a:lnSpc>
                  <a:spcPts val="2160"/>
                </a:lnSpc>
              </a:pPr>
              <a:r>
                <a:rPr lang="en-US" sz="1200">
                  <a:solidFill>
                    <a:srgbClr val="FFFFFF"/>
                  </a:solidFill>
                  <a:latin typeface="Arimo" panose="020B0604020202020204"/>
                  <a:ea typeface="Arimo" panose="020B0604020202020204"/>
                  <a:cs typeface="Arimo" panose="020B0604020202020204"/>
                  <a:sym typeface="Arimo" panose="020B0604020202020204"/>
                </a:rPr>
                <a:t>@SIH Idea submission- Template</a:t>
              </a:r>
              <a:endParaRPr lang="en-US" sz="1200">
                <a:solidFill>
                  <a:srgbClr val="FFFFFF"/>
                </a:solidFill>
                <a:latin typeface="Arimo" panose="020B0604020202020204"/>
                <a:ea typeface="Arimo" panose="020B0604020202020204"/>
                <a:cs typeface="Arimo" panose="020B0604020202020204"/>
                <a:sym typeface="Arimo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53409" y="81550"/>
            <a:ext cx="1264712" cy="824554"/>
            <a:chOff x="0" y="0"/>
            <a:chExt cx="2554516" cy="1665468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 algn="ctr" defTabSz="914400">
                <a:lnSpc>
                  <a:spcPts val="3240"/>
                </a:lnSpc>
              </a:pPr>
              <a:r>
                <a:rPr lang="en-US">
                  <a:solidFill>
                    <a:srgbClr val="000000"/>
                  </a:solidFill>
                  <a:latin typeface="Calibri (MS)" panose="020F0502020204030204"/>
                  <a:ea typeface="Calibri (MS)" panose="020F0502020204030204"/>
                  <a:cs typeface="Calibri (MS)" panose="020F0502020204030204"/>
                  <a:sym typeface="Calibri (MS)" panose="020F0502020204030204"/>
                </a:rPr>
                <a:t>Swayambhu</a:t>
              </a:r>
              <a:endParaRPr lang="en-US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159471" y="19672"/>
            <a:ext cx="1961696" cy="1008708"/>
          </a:xfrm>
          <a:custGeom>
            <a:avLst/>
            <a:gdLst/>
            <a:ahLst/>
            <a:cxnLst/>
            <a:rect l="l" t="t" r="r" b="b"/>
            <a:pathLst>
              <a:path w="2942698" h="1513141">
                <a:moveTo>
                  <a:pt x="0" y="0"/>
                </a:moveTo>
                <a:lnTo>
                  <a:pt x="2942698" y="0"/>
                </a:lnTo>
                <a:lnTo>
                  <a:pt x="2942698" y="1513141"/>
                </a:lnTo>
                <a:lnTo>
                  <a:pt x="0" y="1513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47" r="-3147"/>
            </a:stretch>
          </a:blipFill>
        </p:spPr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21" y="2463850"/>
            <a:ext cx="3901237" cy="374418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938" y="2260661"/>
            <a:ext cx="4270788" cy="4101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TECHNICAL APPROACH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Technology Stack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2984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BACKEND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700784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12" name="Picture 11" descr="jav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247" y="1819655"/>
            <a:ext cx="51206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4632" y="2368296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Java 21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866518" y="1700784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15" name="Picture 14" descr="sp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566" y="1819655"/>
            <a:ext cx="512064" cy="512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93950" y="2368296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Spring Security /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JDBC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275837" y="1700784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18" name="Picture 17" descr="springb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85" y="1819655"/>
            <a:ext cx="512064" cy="5120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303269" y="2368296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Spring Boot 3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7200" y="2724912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C23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DATA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3127248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22" name="Picture 21" descr="postgresq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47" y="3246120"/>
            <a:ext cx="512064" cy="5120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4632" y="3794759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PostgreSQL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866518" y="3127248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25" name="Picture 24" descr="flyw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566" y="3246120"/>
            <a:ext cx="512064" cy="5120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93950" y="3794759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Flyway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Migrations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57200" y="4151376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AUTH &amp; SECURITY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57200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29" name="Picture 28" descr="jw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247" y="4672584"/>
            <a:ext cx="512064" cy="51206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4632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JWT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866518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32" name="Picture 31" descr="letsencryp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6566" y="4672584"/>
            <a:ext cx="512064" cy="51206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93950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TLS / SSL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75837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35" name="Picture 34" descr="owas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5885" y="4672584"/>
            <a:ext cx="512064" cy="5120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303269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OWASP ASVS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231636" y="1298448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C97A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INTEGRATIONS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231636" y="1700784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39" name="Picture 38" descr="whatsap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683" y="1819655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59068" y="2368296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WhatsApp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Cloud API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7640954" y="1700784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42" name="Picture 41" descr="met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1002" y="1819655"/>
            <a:ext cx="512064" cy="5120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668386" y="2368296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Meta for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Developers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6231636" y="2724912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FRONTEND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231636" y="3127248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46" name="Picture 45" descr="reac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1683" y="3246120"/>
            <a:ext cx="512064" cy="51206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259068" y="3794759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React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7640954" y="3127248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49" name="Picture 48" descr="axio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21002" y="3246120"/>
            <a:ext cx="512064" cy="51206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668386" y="3794759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Axios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050274" y="3127248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52" name="Picture 51" descr="v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0321" y="3246120"/>
            <a:ext cx="512064" cy="51206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77705" y="3794759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Vite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231636" y="4151376"/>
            <a:ext cx="205740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30" b="1" i="0">
                <a:solidFill>
                  <a:srgbClr val="FFFFFF"/>
                </a:solidFill>
                <a:latin typeface="Calibri" panose="020F0502020204030204"/>
              </a:rPr>
              <a:t>DEVOPS &amp; OPS</a:t>
            </a:r>
            <a:endParaRPr sz="103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231636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56" name="Picture 55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1683" y="4672584"/>
            <a:ext cx="512064" cy="51206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259068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Docker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640954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59" name="Picture 58" descr="maven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002" y="4672584"/>
            <a:ext cx="512064" cy="51206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668386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Maven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9050274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62" name="Picture 61" descr="nginx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30321" y="4672584"/>
            <a:ext cx="512064" cy="51206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077705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Nginx (TLS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proxy)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10459592" y="4553712"/>
            <a:ext cx="1272159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D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pic>
        <p:nvPicPr>
          <p:cNvPr id="65" name="Picture 64" descr="redi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39640" y="4672584"/>
            <a:ext cx="512064" cy="51206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0487024" y="5221224"/>
            <a:ext cx="121729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Redis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F2937"/>
                </a:solidFill>
                <a:latin typeface="Calibri" panose="020F0502020204030204"/>
              </a:rPr>
              <a:t>(roadmap)</a:t>
            </a:r>
            <a:endParaRPr sz="860" b="1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57200" y="6126480"/>
            <a:ext cx="112471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30" b="0" i="1">
                <a:solidFill>
                  <a:srgbClr val="5B6B73"/>
                </a:solidFill>
                <a:latin typeface="Calibri" panose="020F0502020204030204"/>
              </a:rPr>
              <a:t>Also in the stack, without a public brand mark: BCrypt password hashing · Twilio Verify/SMS · ZXing QR generation · HikariCP pooling · Evolution API · a custom CORS allowlist &amp; sliding-window rate limiter.</a:t>
            </a:r>
            <a:endParaRPr sz="930" b="0" i="1">
              <a:solidFill>
                <a:srgbClr val="5B6B73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FEASIBILITY &amp; VIABILITY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Security Hardening &amp; Scalability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SECURITY HARDENING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1627632"/>
            <a:ext cx="5394960" cy="4526280"/>
          </a:xfrm>
          <a:prstGeom prst="roundRect">
            <a:avLst>
              <a:gd name="adj" fmla="val 5000"/>
            </a:avLst>
          </a:prstGeom>
          <a:solidFill>
            <a:srgbClr val="FBF8FF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1810512"/>
            <a:ext cx="502920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Auth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BCrypt password check + signed, expiring JWTs; no shared static admin token.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Passwords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BCrypt hash required in production; plaintext supported only as a dev fallback.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Transport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TLS terminated natively or behind a reverse proxy; DB connection uses sslmode=require.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CORS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restricted to an explicit ALLOWED_ORIGINS allowlist, never a wildcard.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Validation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typed, jakarta-validated request DTOs replace raw untyped request maps.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Rate limiting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per-IP sliding window on login, token creation and the WhatsApp webhook.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7C3A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Webhook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its own WEBHOOK_VERIFY_TOKEN secret, separate from admin auth.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SCALABILITY &amp; RELIABILITY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627632"/>
            <a:ext cx="5422392" cy="4526280"/>
          </a:xfrm>
          <a:prstGeom prst="roundRect">
            <a:avLst>
              <a:gd name="adj" fmla="val 5000"/>
            </a:avLst>
          </a:prstGeom>
          <a:solidFill>
            <a:srgbClr val="F2F6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1810512"/>
            <a:ext cx="5029200" cy="4206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Async dispatch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WhatsApp sends run on a bounded background pool — never blocks HTTP worker threads.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Stateless auth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JWTs carry no server session, so any number of replicas can validate independently.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Connection pooling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HikariCP, configurable size, won't block startup if Postgres is briefly unreachable.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Versioned schema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Flyway migrations plus indexes on every hot query path (phone, status, created_at).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Health probes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liveness vs readiness split, safe for restart policies and load-balancer routing.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Provider failover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a failed WhatsApp send automatically retries the second configured provider.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00" b="1">
                <a:solidFill>
                  <a:srgbClr val="2F6FED"/>
                </a:solidFill>
                <a:latin typeface="Calibri" panose="020F0502020204030204"/>
              </a:rPr>
              <a:t>●  </a:t>
            </a:r>
            <a:r>
              <a:rPr sz="1100" b="1">
                <a:solidFill>
                  <a:srgbClr val="1F2937"/>
                </a:solidFill>
                <a:latin typeface="Calibri" panose="020F0502020204030204"/>
              </a:rPr>
              <a:t>Known limit — </a:t>
            </a:r>
            <a:r>
              <a:rPr sz="1100" b="0">
                <a:solidFill>
                  <a:srgbClr val="1F2937"/>
                </a:solidFill>
                <a:latin typeface="Calibri" panose="020F0502020204030204"/>
              </a:rPr>
              <a:t>the in-memory rate limiter is per-instance; swap for Redis to share it across replicas.</a:t>
            </a:r>
            <a:endParaRPr sz="1100" b="0">
              <a:solidFill>
                <a:srgbClr val="1F29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IMPACT &amp; BENEFITS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What Changes for Everyone in the Loop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07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2667762" cy="1554480"/>
          </a:xfrm>
          <a:prstGeom prst="roundRect">
            <a:avLst>
              <a:gd name="adj" fmla="val 9000"/>
            </a:avLst>
          </a:prstGeom>
          <a:solidFill>
            <a:srgbClr val="DFF3F1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09728" bIns="36576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0A5B63"/>
                </a:solidFill>
                <a:latin typeface="Calibri" panose="020F0502020204030204"/>
              </a:rPr>
              <a:t>&lt; 3 min</a:t>
            </a:r>
            <a:endParaRPr sz="2100" b="1">
              <a:solidFill>
                <a:srgbClr val="0A5B63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 panose="020F0502020204030204"/>
              </a:rPr>
              <a:t>to register a token over WhatsApp — vs. a front-desk queue to even start</a:t>
            </a:r>
            <a:endParaRPr sz="100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26130" y="1325880"/>
            <a:ext cx="2667762" cy="1554480"/>
          </a:xfrm>
          <a:prstGeom prst="roundRect">
            <a:avLst>
              <a:gd name="adj" fmla="val 9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09728" bIns="36576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1F6B3A"/>
                </a:solidFill>
                <a:latin typeface="Calibri" panose="020F0502020204030204"/>
              </a:rPr>
              <a:t>Live</a:t>
            </a:r>
            <a:endParaRPr sz="2100" b="1">
              <a:solidFill>
                <a:srgbClr val="1F6B3A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 panose="020F0502020204030204"/>
              </a:rPr>
              <a:t>queue position + geo-aware ETA replace guesswork and early arrival</a:t>
            </a:r>
            <a:endParaRPr sz="100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5060" y="1325880"/>
            <a:ext cx="2667762" cy="1554480"/>
          </a:xfrm>
          <a:prstGeom prst="roundRect">
            <a:avLst>
              <a:gd name="adj" fmla="val 9000"/>
            </a:avLst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09728" bIns="36576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4C2489"/>
                </a:solidFill>
                <a:latin typeface="Calibri" panose="020F0502020204030204"/>
              </a:rPr>
              <a:t>Consent-
gated</a:t>
            </a:r>
            <a:endParaRPr sz="2100" b="1">
              <a:solidFill>
                <a:srgbClr val="4C2489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 panose="020F0502020204030204"/>
              </a:rPr>
              <a:t>record access — a doctor sees nothing until the patient grants it</a:t>
            </a:r>
            <a:endParaRPr sz="100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63990" y="1325880"/>
            <a:ext cx="2667762" cy="1554480"/>
          </a:xfrm>
          <a:prstGeom prst="roundRect">
            <a:avLst>
              <a:gd name="adj" fmla="val 9000"/>
            </a:avLst>
          </a:prstGeom>
          <a:solidFill>
            <a:srgbClr val="FFF1DC"/>
          </a:solidFill>
          <a:ln w="13970">
            <a:solidFill>
              <a:srgbClr val="C97A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09728" bIns="36576" rtlCol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100" b="1">
                <a:solidFill>
                  <a:srgbClr val="8A4A05"/>
                </a:solidFill>
                <a:latin typeface="Calibri" panose="020F0502020204030204"/>
              </a:rPr>
              <a:t>Multi-
hospital</a:t>
            </a:r>
            <a:endParaRPr sz="2100" b="1">
              <a:solidFill>
                <a:srgbClr val="8A4A05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>
                <a:solidFill>
                  <a:srgbClr val="1F2937"/>
                </a:solidFill>
                <a:latin typeface="Calibri" panose="020F0502020204030204"/>
              </a:rPr>
              <a:t>directory model — the same backend scales past a single OPD</a:t>
            </a:r>
            <a:endParaRPr sz="100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WHO BENEFITS, AND HOW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3611880"/>
            <a:ext cx="5394960" cy="2651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2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20" b="1">
                <a:solidFill>
                  <a:srgbClr val="1F2937"/>
                </a:solidFill>
                <a:latin typeface="Calibri" panose="020F0502020204030204"/>
              </a:rPr>
              <a:t>Patients — </a:t>
            </a:r>
            <a:r>
              <a:rPr sz="1120" b="0">
                <a:solidFill>
                  <a:srgbClr val="1F2937"/>
                </a:solidFill>
                <a:latin typeface="Calibri" panose="020F0502020204030204"/>
              </a:rPr>
              <a:t>wait off-site, get a timely nudge, and keep one visit history instead of paper carried between visits.</a:t>
            </a:r>
            <a:endParaRPr sz="112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2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20" b="1">
                <a:solidFill>
                  <a:srgbClr val="1F2937"/>
                </a:solidFill>
                <a:latin typeface="Calibri" panose="020F0502020204030204"/>
              </a:rPr>
              <a:t>Front-desk staff — </a:t>
            </a:r>
            <a:r>
              <a:rPr sz="1120" b="0">
                <a:solidFill>
                  <a:srgbClr val="1F2937"/>
                </a:solidFill>
                <a:latin typeface="Calibri" panose="020F0502020204030204"/>
              </a:rPr>
              <a:t>spend less time re-keying details and manually chasing missed patients back into line.</a:t>
            </a:r>
            <a:endParaRPr sz="112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2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20" b="1">
                <a:solidFill>
                  <a:srgbClr val="1F2937"/>
                </a:solidFill>
                <a:latin typeface="Calibri" panose="020F0502020204030204"/>
              </a:rPr>
              <a:t>Doctors — </a:t>
            </a:r>
            <a:r>
              <a:rPr sz="1120" b="0">
                <a:solidFill>
                  <a:srgbClr val="1F2937"/>
                </a:solidFill>
                <a:latin typeface="Calibri" panose="020F0502020204030204"/>
              </a:rPr>
              <a:t>get instant, consented access to prior prescriptions/reports without the patient re-bringing them.</a:t>
            </a:r>
            <a:endParaRPr sz="112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020" b="1">
                <a:solidFill>
                  <a:srgbClr val="0E7C86"/>
                </a:solidFill>
                <a:latin typeface="Calibri" panose="020F0502020204030204"/>
              </a:rPr>
              <a:t>●  </a:t>
            </a:r>
            <a:r>
              <a:rPr sz="1120" b="1">
                <a:solidFill>
                  <a:srgbClr val="1F2937"/>
                </a:solidFill>
                <a:latin typeface="Calibri" panose="020F0502020204030204"/>
              </a:rPr>
              <a:t>Hospital administration — </a:t>
            </a:r>
            <a:r>
              <a:rPr sz="1120" b="0">
                <a:solidFill>
                  <a:srgbClr val="1F2937"/>
                </a:solidFill>
                <a:latin typeface="Calibri" panose="020F0502020204030204"/>
              </a:rPr>
              <a:t>a live counter board, missed-queue recovery, and per-hospital analytics on one platform.</a:t>
            </a:r>
            <a:endParaRPr sz="1120" b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63640" y="3200400"/>
            <a:ext cx="5422392" cy="306324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18900000" scaled="0"/>
          </a:gradFill>
          <a:ln w="1778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56032" bIns="182880" rtlCol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50" i="1">
                <a:solidFill>
                  <a:srgbClr val="FFFFFF"/>
                </a:solidFill>
                <a:latin typeface="Calibri" panose="020F0502020204030204"/>
              </a:rPr>
              <a:t>The bottleneck in outpatient care is rarely the doctor's time — it's the queue built around not knowing when to show up, and the record left behind at the last visit. Fixing both on a channel patients already have (WhatsApp) is what makes qDischarge adoptable on day one, not after training.</a:t>
            </a:r>
            <a:endParaRPr sz="1350" i="1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gradFill rotWithShape="1">
            <a:gsLst>
              <a:gs pos="0">
                <a:srgbClr val="0A5B63"/>
              </a:gs>
              <a:gs pos="100000">
                <a:srgbClr val="0E7C8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4114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BFEFEA"/>
                </a:solidFill>
                <a:latin typeface="Calibri" panose="020F0502020204030204"/>
              </a:rPr>
              <a:t>PRD · ROADMAP &amp; REFERENCES</a:t>
            </a:r>
            <a:endParaRPr sz="1100" b="1" i="0">
              <a:solidFill>
                <a:srgbClr val="BFEFEA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Calibri" panose="020F0502020204030204"/>
              </a:rPr>
              <a:t>What's Next, and What This Is Built On</a:t>
            </a:r>
            <a:endParaRPr sz="2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109960" y="292608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0A4A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08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5B6B73"/>
                </a:solidFill>
                <a:latin typeface="Calibri" panose="020F0502020204030204"/>
              </a:rPr>
              <a:t>qDischarge · PRD</a:t>
            </a:r>
            <a:endParaRPr sz="900" b="1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0" y="6547104"/>
            <a:ext cx="345643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73"/>
                </a:solidFill>
                <a:latin typeface="Calibri" panose="020F0502020204030204"/>
              </a:rPr>
              <a:t>qDischarge PRD · 2026</a:t>
            </a:r>
            <a:endParaRPr sz="900" b="0" i="0">
              <a:solidFill>
                <a:srgbClr val="5B6B73"/>
              </a:solidFill>
              <a:latin typeface="Calibri" panose="020F050202020403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123444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ROADMAP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2116836" y="1691640"/>
            <a:ext cx="256032" cy="256032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2372868" y="1819656"/>
            <a:ext cx="3593592" cy="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" y="2148840"/>
            <a:ext cx="3575304" cy="2331720"/>
          </a:xfrm>
          <a:prstGeom prst="roundRect">
            <a:avLst>
              <a:gd name="adj" fmla="val 7000"/>
            </a:avLst>
          </a:prstGeom>
          <a:solidFill>
            <a:srgbClr val="E3F6E8"/>
          </a:solidFill>
          <a:ln w="1397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6B3A"/>
                </a:solidFill>
                <a:latin typeface="Calibri" panose="020F0502020204030204"/>
              </a:rPr>
              <a:t>NOW — Hardened Core</a:t>
            </a:r>
            <a:endParaRPr sz="1200" b="1">
              <a:solidFill>
                <a:srgbClr val="1F6B3A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JWT + BCrypt auth, rate limiting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Geo-ETA, multi-counter routing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OTP-gated registration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Consent-based patient records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66460" y="1691640"/>
            <a:ext cx="256032" cy="256032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222492" y="1819656"/>
            <a:ext cx="3593592" cy="0"/>
          </a:xfrm>
          <a:prstGeom prst="line">
            <a:avLst/>
          </a:prstGeom>
          <a:ln w="19050">
            <a:solidFill>
              <a:srgbClr val="5B6B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06824" y="2148840"/>
            <a:ext cx="3575304" cy="2331720"/>
          </a:xfrm>
          <a:prstGeom prst="roundRect">
            <a:avLst>
              <a:gd name="adj" fmla="val 7000"/>
            </a:avLst>
          </a:prstGeom>
          <a:solidFill>
            <a:srgbClr val="DFF3F1"/>
          </a:solidFill>
          <a:ln w="1397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A5B63"/>
                </a:solidFill>
                <a:latin typeface="Calibri" panose="020F0502020204030204"/>
              </a:rPr>
              <a:t>NEXT — Frontend Parity</a:t>
            </a:r>
            <a:endParaRPr sz="1200" b="1">
              <a:solidFill>
                <a:srgbClr val="0A5B63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UI for hospitals / geo / counters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Missed-queue admin screens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Doctor portal for record access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Redis-backed rate limiter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816084" y="1691640"/>
            <a:ext cx="256032" cy="25603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endParaRPr sz="1200" b="0" i="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56448" y="2148840"/>
            <a:ext cx="3575304" cy="2331720"/>
          </a:xfrm>
          <a:prstGeom prst="roundRect">
            <a:avLst>
              <a:gd name="adj" fmla="val 7000"/>
            </a:avLst>
          </a:prstGeom>
          <a:solidFill>
            <a:srgbClr val="F1E9FB"/>
          </a:solidFill>
          <a:ln w="1397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28016" rIns="128016" bIns="36576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C2489"/>
                </a:solidFill>
                <a:latin typeface="Calibri" panose="020F0502020204030204"/>
              </a:rPr>
              <a:t>LATER — Platform Scale</a:t>
            </a:r>
            <a:endParaRPr sz="1200" b="1">
              <a:solidFill>
                <a:srgbClr val="4C2489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Multi-hospital self-serve onboarding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Analytics dashboards per hospital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SMS/voice channel fallback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sz="1030">
                <a:solidFill>
                  <a:srgbClr val="1F2937"/>
                </a:solidFill>
                <a:latin typeface="Calibri" panose="020F0502020204030204"/>
              </a:rPr>
              <a:t>›  Field-level record encryption</a:t>
            </a:r>
            <a:endParaRPr sz="1030">
              <a:solidFill>
                <a:srgbClr val="1F2937"/>
              </a:solidFill>
              <a:latin typeface="Calibri" panose="020F050202020403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57200" y="489204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5B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REFERENCES &amp; FOUNDATIONS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>
                <a:solidFill>
                  <a:srgbClr val="5B6B73"/>
                </a:solidFill>
                <a:latin typeface="Calibri" panose="020F0502020204030204"/>
              </a:rPr>
              <a:t>●  </a:t>
            </a:r>
            <a:r>
              <a:rPr sz="1000" b="0">
                <a:solidFill>
                  <a:srgbClr val="1F2937"/>
                </a:solidFill>
                <a:latin typeface="Calibri" panose="020F0502020204030204"/>
              </a:rPr>
              <a:t>qDischarge README &amp; configuration — this repository (Spring Boot port, hardening notes).</a:t>
            </a:r>
            <a:endParaRPr sz="10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>
                <a:solidFill>
                  <a:srgbClr val="5B6B73"/>
                </a:solidFill>
                <a:latin typeface="Calibri" panose="020F0502020204030204"/>
              </a:rPr>
              <a:t>●  </a:t>
            </a:r>
            <a:r>
              <a:rPr sz="1000" b="0">
                <a:solidFill>
                  <a:srgbClr val="1F2937"/>
                </a:solidFill>
                <a:latin typeface="Calibri" panose="020F0502020204030204"/>
              </a:rPr>
              <a:t>DIGIPIN — India Post's open geo-coding scheme, used for hospital location and patient ETA.</a:t>
            </a:r>
            <a:endParaRPr sz="10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>
                <a:solidFill>
                  <a:srgbClr val="5B6B73"/>
                </a:solidFill>
                <a:latin typeface="Calibri" panose="020F0502020204030204"/>
              </a:rPr>
              <a:t>●  </a:t>
            </a:r>
            <a:r>
              <a:rPr sz="1000" b="0">
                <a:solidFill>
                  <a:srgbClr val="1F2937"/>
                </a:solidFill>
                <a:latin typeface="Calibri" panose="020F0502020204030204"/>
              </a:rPr>
              <a:t>Meta WhatsApp Cloud API &amp; Evolution API — messaging providers, with automatic failover.</a:t>
            </a:r>
            <a:endParaRPr sz="10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>
                <a:solidFill>
                  <a:srgbClr val="5B6B73"/>
                </a:solidFill>
                <a:latin typeface="Calibri" panose="020F0502020204030204"/>
              </a:rPr>
              <a:t>●  </a:t>
            </a:r>
            <a:r>
              <a:rPr sz="1000" b="0">
                <a:solidFill>
                  <a:srgbClr val="1F2937"/>
                </a:solidFill>
                <a:latin typeface="Calibri" panose="020F0502020204030204"/>
              </a:rPr>
              <a:t>Twilio Verify / Programmable SMS — OTP delivery, with WhatsApp fallback on send failure.</a:t>
            </a:r>
            <a:endParaRPr sz="1000" b="0">
              <a:solidFill>
                <a:srgbClr val="1F2937"/>
              </a:solidFill>
              <a:latin typeface="Calibri" panose="020F0502020204030204"/>
            </a:endParaRP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900" b="1">
                <a:solidFill>
                  <a:srgbClr val="5B6B73"/>
                </a:solidFill>
                <a:latin typeface="Calibri" panose="020F0502020204030204"/>
              </a:rPr>
              <a:t>●  </a:t>
            </a:r>
            <a:r>
              <a:rPr sz="1000" b="0">
                <a:solidFill>
                  <a:srgbClr val="1F2937"/>
                </a:solidFill>
                <a:latin typeface="Calibri" panose="020F0502020204030204"/>
              </a:rPr>
              <a:t>OWASP ASVS — reference checklist behind the auth, validation and rate-limiting choices.</a:t>
            </a:r>
            <a:endParaRPr sz="1000" b="0">
              <a:solidFill>
                <a:srgbClr val="1F2937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8760</Words>
  <Application>WPS Presentation</Application>
  <PresentationFormat>On-screen Show (4:3)</PresentationFormat>
  <Paragraphs>447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Times New Roman Bold</vt:lpstr>
      <vt:lpstr>Times New Roman</vt:lpstr>
      <vt:lpstr>Arimo Bold</vt:lpstr>
      <vt:lpstr>Arimo</vt:lpstr>
      <vt:lpstr>Calibri (MS)</vt:lpstr>
      <vt:lpstr>Microsoft YaHei</vt:lpstr>
      <vt:lpstr>Arial Unicode MS</vt:lpstr>
      <vt:lpstr>Yu Gothic UI Semibold</vt:lpstr>
      <vt:lpstr>Utsaah</vt:lpstr>
      <vt:lpstr>Calibri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27_CompA_Krishna Dube</cp:lastModifiedBy>
  <cp:revision>2</cp:revision>
  <dcterms:created xsi:type="dcterms:W3CDTF">2013-01-27T09:14:00Z</dcterms:created>
  <dcterms:modified xsi:type="dcterms:W3CDTF">2026-08-19T07:42:03Z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82CE2259D60C49D9BEAB26650314B133_12</vt:lpwstr>
  </property>
</Properties>
</file>