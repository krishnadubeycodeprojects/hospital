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846320"/>
          </a:xfrm>
          <a:prstGeom prst="rect">
            <a:avLst/>
          </a:prstGeom>
          <a:gradFill rotWithShape="1">
            <a:gsLst>
              <a:gs pos="0">
                <a:srgbClr val="0A5B63"/>
              </a:gs>
              <a:gs pos="100000">
                <a:srgbClr val="14A3AE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55480" y="-502919"/>
            <a:ext cx="2103120" cy="2103120"/>
          </a:xfrm>
          <a:prstGeom prst="ellipse">
            <a:avLst/>
          </a:prstGeom>
          <a:solidFill>
            <a:srgbClr val="139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79" y="2834639"/>
            <a:ext cx="1463040" cy="1463040"/>
          </a:xfrm>
          <a:prstGeom prst="ellipse">
            <a:avLst/>
          </a:prstGeom>
          <a:solidFill>
            <a:srgbClr val="0C6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02920"/>
            <a:ext cx="3246120" cy="384048"/>
          </a:xfrm>
          <a:prstGeom prst="roundRect">
            <a:avLst>
              <a:gd name="adj" fmla="val 50000"/>
            </a:avLst>
          </a:prstGeom>
          <a:solidFill>
            <a:srgbClr val="0A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FEFEA"/>
                </a:solidFill>
                <a:latin typeface="Calibri"/>
              </a:rPr>
              <a:t>PRODUCT REQUIREMENTS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qDischarge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550" b="0" i="0">
                <a:solidFill>
                  <a:srgbClr val="E7F7F5"/>
                </a:solidFill>
                <a:latin typeface="Calibri"/>
              </a:rPr>
              <a:t>A WhatsApp-driven clinic queue management platform — booking, geo-aware</a:t>
            </a:r>
          </a:p>
          <a:p>
            <a:pPr algn="l">
              <a:lnSpc>
                <a:spcPct val="115000"/>
              </a:lnSpc>
            </a:pPr>
            <a:r>
              <a:rPr sz="1550" b="0" i="0">
                <a:solidFill>
                  <a:srgbClr val="E7F7F5"/>
                </a:solidFill>
                <a:latin typeface="Calibri"/>
              </a:rPr>
              <a:t>arrival, multi-counter routing and consent-based records on one rail.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46120"/>
            <a:ext cx="3429000" cy="658368"/>
          </a:xfrm>
          <a:prstGeom prst="roundRect">
            <a:avLst>
              <a:gd name="adj" fmla="val 12000"/>
            </a:avLst>
          </a:prstGeom>
          <a:solidFill>
            <a:srgbClr val="0B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54864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FD9CE"/>
                </a:solidFill>
                <a:latin typeface="Calibri"/>
              </a:rPr>
              <a:t>PLATFORM</a:t>
            </a:r>
          </a:p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WhatsApp + Web + REST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246120"/>
            <a:ext cx="3429000" cy="658368"/>
          </a:xfrm>
          <a:prstGeom prst="roundRect">
            <a:avLst>
              <a:gd name="adj" fmla="val 12000"/>
            </a:avLst>
          </a:prstGeom>
          <a:solidFill>
            <a:srgbClr val="0B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54864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FD9CE"/>
                </a:solidFill>
                <a:latin typeface="Calibri"/>
              </a:rPr>
              <a:t>STACK</a:t>
            </a:r>
          </a:p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Spring Boot · PostgreSQL · React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429000" cy="658368"/>
          </a:xfrm>
          <a:prstGeom prst="roundRect">
            <a:avLst>
              <a:gd name="adj" fmla="val 12000"/>
            </a:avLst>
          </a:prstGeom>
          <a:solidFill>
            <a:srgbClr val="0B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54864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FD9CE"/>
                </a:solidFill>
                <a:latin typeface="Calibri"/>
              </a:rPr>
              <a:t>DOMAIN</a:t>
            </a:r>
          </a:p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Outpatient queue &amp; access management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50791"/>
            <a:ext cx="3429000" cy="658368"/>
          </a:xfrm>
          <a:prstGeom prst="roundRect">
            <a:avLst>
              <a:gd name="adj" fmla="val 12000"/>
            </a:avLst>
          </a:prstGeom>
          <a:solidFill>
            <a:srgbClr val="0B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54864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FD9CE"/>
                </a:solidFill>
                <a:latin typeface="Calibri"/>
              </a:rPr>
              <a:t>VERSION</a:t>
            </a:r>
          </a:p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v2.0 — Hardened Release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050791"/>
            <a:ext cx="3429000" cy="658368"/>
          </a:xfrm>
          <a:prstGeom prst="roundRect">
            <a:avLst>
              <a:gd name="adj" fmla="val 12000"/>
            </a:avLst>
          </a:prstGeom>
          <a:solidFill>
            <a:srgbClr val="0B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54864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FD9CE"/>
                </a:solidFill>
                <a:latin typeface="Calibri"/>
              </a:rPr>
              <a:t>AUTHOR</a:t>
            </a:r>
          </a:p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Krishna Dubey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050791"/>
            <a:ext cx="3429000" cy="658368"/>
          </a:xfrm>
          <a:prstGeom prst="roundRect">
            <a:avLst>
              <a:gd name="adj" fmla="val 12000"/>
            </a:avLst>
          </a:prstGeom>
          <a:solidFill>
            <a:srgbClr val="0B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54864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FD9CE"/>
                </a:solidFill>
                <a:latin typeface="Calibri"/>
              </a:rPr>
              <a:t>DATE</a:t>
            </a:r>
          </a:p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16 Aug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7C86"/>
                </a:solidFill>
                <a:latin typeface="Calibri"/>
              </a:rPr>
              <a:t>WHY IT EXISTS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2180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>Outpatient departments run on paper tokens and a crowded waiting hall: patients arrive early "just in case", front desks re-key the same details by hand, and a missed call means a lost turn. qDischarge replaces that with a number every patient already has — WhatsApp — plus a hospital-grade backend that tracks position, ETA and consent end to end.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263640"/>
            <a:ext cx="19202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A5B63"/>
                </a:solidFill>
                <a:latin typeface="Calibri"/>
              </a:rPr>
              <a:t>Patients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24912" y="6263640"/>
            <a:ext cx="19202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A5B63"/>
                </a:solidFill>
                <a:latin typeface="Calibri"/>
              </a:rPr>
              <a:t>Front-desk Admins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9744" y="6263640"/>
            <a:ext cx="19202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A5B63"/>
                </a:solidFill>
                <a:latin typeface="Calibri"/>
              </a:rPr>
              <a:t>Doctors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4576" y="6263640"/>
            <a:ext cx="19202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A5B63"/>
                </a:solidFill>
                <a:latin typeface="Calibri"/>
              </a:rPr>
              <a:t>Hospital 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6309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B73"/>
                </a:solidFill>
                <a:latin typeface="Calibri"/>
              </a:rPr>
              <a:t>SIH-style deck · qDischarge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FEFEA"/>
                </a:solidFill>
                <a:latin typeface="Calibri"/>
              </a:rPr>
              <a:t>PRD ·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Problem, and Our 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60" y="29260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0A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B6B73"/>
                </a:solidFill>
                <a:latin typeface="Calibri"/>
              </a:rPr>
              <a:t>qDischarge · 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47104"/>
            <a:ext cx="34564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qDischarge PRD ·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07008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C97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PROBLEMS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627632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1DC"/>
          </a:solidFill>
          <a:ln w="12700">
            <a:solidFill>
              <a:srgbClr val="C97A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8229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8A4A05"/>
                </a:solidFill>
                <a:latin typeface="Calibri"/>
              </a:rPr>
              <a:t>Paper tokens, no visibility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80">
                <a:solidFill>
                  <a:srgbClr val="1F2937"/>
                </a:solidFill>
                <a:latin typeface="Calibri"/>
              </a:rPr>
              <a:t>Patients queue on a printed number with no live wait estimate, so they arrive early and crowd the OPD hall.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70048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1DC"/>
          </a:solidFill>
          <a:ln w="12700">
            <a:solidFill>
              <a:srgbClr val="C97A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8229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8A4A05"/>
                </a:solidFill>
                <a:latin typeface="Calibri"/>
              </a:rPr>
              <a:t>Front-desk re-keying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80">
                <a:solidFill>
                  <a:srgbClr val="1F2937"/>
                </a:solidFill>
                <a:latin typeface="Calibri"/>
              </a:rPr>
              <a:t>Name, age and phone are re-entered by hand every visit; there is no durable per-patient visit trail to reuse.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12463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1DC"/>
          </a:solidFill>
          <a:ln w="12700">
            <a:solidFill>
              <a:srgbClr val="C97A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8229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8A4A05"/>
                </a:solidFill>
                <a:latin typeface="Calibri"/>
              </a:rPr>
              <a:t>Missed turns, lost slots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80">
                <a:solidFill>
                  <a:srgbClr val="1F2937"/>
                </a:solidFill>
                <a:latin typeface="Calibri"/>
              </a:rPr>
              <a:t>A missed announcement or a step-out and the token silently disappears — no recovery path back into the line.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79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1DC"/>
          </a:solidFill>
          <a:ln w="12700">
            <a:solidFill>
              <a:srgbClr val="C97A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8229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8A4A05"/>
                </a:solidFill>
                <a:latin typeface="Calibri"/>
              </a:rPr>
              <a:t>Fragmented records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80">
                <a:solidFill>
                  <a:srgbClr val="1F2937"/>
                </a:solidFill>
                <a:latin typeface="Calibri"/>
              </a:rPr>
              <a:t>Prescriptions and reports live on paper or siloed apps; a doctor can't see them without the patient carrying them 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0700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27632"/>
            <a:ext cx="5422392" cy="196596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0E7C86"/>
              </a:gs>
              <a:gs pos="100000">
                <a:srgbClr val="0A5B63"/>
              </a:gs>
            </a:gsLst>
            <a:lin scaled="0" ang="18900000"/>
          </a:gra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36576" bIns="36576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550" i="1" b="1">
                <a:solidFill>
                  <a:srgbClr val="FFFFFF"/>
                </a:solidFill>
                <a:latin typeface="Calibri"/>
              </a:rPr>
              <a:t>“One WhatsApp number should take a patient from booking to being seen — with a live position, a geo-aware ‘leave now’ nudge, and a durable, consent-gated medical record trail behind it.”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794760"/>
            <a:ext cx="1709928" cy="105156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2200" b="1">
                <a:solidFill>
                  <a:srgbClr val="0A5B63"/>
                </a:solidFill>
                <a:latin typeface="Calibri"/>
              </a:rPr>
              <a:t>0</a:t>
            </a:r>
          </a:p>
          <a:p>
            <a:pPr algn="ctr">
              <a:lnSpc>
                <a:spcPct val="95000"/>
              </a:lnSpc>
            </a:pPr>
            <a:r>
              <a:rPr sz="950">
                <a:solidFill>
                  <a:srgbClr val="1F2937"/>
                </a:solidFill>
                <a:latin typeface="Calibri"/>
              </a:rPr>
              <a:t>apps to
install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3794760"/>
            <a:ext cx="1709928" cy="105156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2200" b="1">
                <a:solidFill>
                  <a:srgbClr val="0A5B63"/>
                </a:solidFill>
                <a:latin typeface="Calibri"/>
              </a:rPr>
              <a:t>24h</a:t>
            </a:r>
          </a:p>
          <a:p>
            <a:pPr algn="ctr">
              <a:lnSpc>
                <a:spcPct val="95000"/>
              </a:lnSpc>
            </a:pPr>
            <a:r>
              <a:rPr sz="950">
                <a:solidFill>
                  <a:srgbClr val="1F2937"/>
                </a:solidFill>
                <a:latin typeface="Calibri"/>
              </a:rPr>
              <a:t>token
validity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76104" y="3794760"/>
            <a:ext cx="1709928" cy="105156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2200" b="1">
                <a:solidFill>
                  <a:srgbClr val="0A5B63"/>
                </a:solidFill>
                <a:latin typeface="Calibri"/>
              </a:rPr>
              <a:t>N/A</a:t>
            </a:r>
          </a:p>
          <a:p>
            <a:pPr algn="ctr">
              <a:lnSpc>
                <a:spcPct val="95000"/>
              </a:lnSpc>
            </a:pPr>
            <a:r>
              <a:rPr sz="950">
                <a:solidFill>
                  <a:srgbClr val="1F2937"/>
                </a:solidFill>
                <a:latin typeface="Calibri"/>
              </a:rPr>
              <a:t>front-desk
re-typing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507492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5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WHO FEELS THE 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486400"/>
            <a:ext cx="5422392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0E7C86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Patients </a:t>
            </a:r>
            <a:r>
              <a:rPr sz="1100" b="0">
                <a:solidFill>
                  <a:srgbClr val="1F2937"/>
                </a:solidFill>
                <a:latin typeface="Calibri"/>
              </a:rPr>
              <a:t>wait off-site and get pinged when it's really time to head over.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0E7C86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Front desks </a:t>
            </a:r>
            <a:r>
              <a:rPr sz="1100" b="0">
                <a:solidFill>
                  <a:srgbClr val="1F2937"/>
                </a:solidFill>
                <a:latin typeface="Calibri"/>
              </a:rPr>
              <a:t>stop re-typing history — every visit is already on file.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0E7C86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Doctors </a:t>
            </a:r>
            <a:r>
              <a:rPr sz="1100" b="0">
                <a:solidFill>
                  <a:srgbClr val="1F2937"/>
                </a:solidFill>
                <a:latin typeface="Calibri"/>
              </a:rPr>
              <a:t>see records the moment a patient grants access, not before.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FEFEA"/>
                </a:solidFill>
                <a:latin typeface="Calibri"/>
              </a:rPr>
              <a:t>PRD · IDEA &amp;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Eight Ideas, One Queue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60" y="29260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0A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B6B73"/>
                </a:solidFill>
                <a:latin typeface="Calibri"/>
              </a:rPr>
              <a:t>qDischarge · 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47104"/>
            <a:ext cx="34564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qDischarge PRD ·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2681478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713232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50" b="1">
                <a:solidFill>
                  <a:srgbClr val="1F2937"/>
                </a:solidFill>
                <a:latin typeface="Calibri"/>
              </a:rPr>
              <a:t>WhatsApp-First Booking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1000">
                <a:solidFill>
                  <a:srgbClr val="5B6B73"/>
                </a:solidFill>
                <a:latin typeface="Calibri"/>
              </a:rPr>
              <a:t>Book, track and get notified inside one WhatsApp thread — no app install, a session-driven bot flow end to 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2681478" cy="1188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1591056"/>
            <a:ext cx="502920" cy="365760"/>
          </a:xfrm>
          <a:prstGeom prst="roundRect">
            <a:avLst>
              <a:gd name="adj" fmla="val 30000"/>
            </a:avLst>
          </a:prstGeom>
          <a:solidFill>
            <a:srgbClr val="DF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1558" y="1371600"/>
            <a:ext cx="2681478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713232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50" b="1">
                <a:solidFill>
                  <a:srgbClr val="1F2937"/>
                </a:solidFill>
                <a:latin typeface="Calibri"/>
              </a:rPr>
              <a:t>DIGIPIN Geo-ETA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1000">
                <a:solidFill>
                  <a:srgbClr val="5B6B73"/>
                </a:solidFill>
                <a:latin typeface="Calibri"/>
              </a:rPr>
              <a:t>Share location once; straight-line distance becomes an ETA that decides exactly when to send “leave now.”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1558" y="1371600"/>
            <a:ext cx="2681478" cy="11887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49574" y="1591056"/>
            <a:ext cx="502920" cy="365760"/>
          </a:xfrm>
          <a:prstGeom prst="roundRect">
            <a:avLst>
              <a:gd name="adj" fmla="val 30000"/>
            </a:avLst>
          </a:prstGeom>
          <a:solidFill>
            <a:srgbClr val="E3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9E5B"/>
                </a:solidFill>
                <a:latin typeface="Calibr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371600"/>
            <a:ext cx="2681478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C97A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713232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50" b="1">
                <a:solidFill>
                  <a:srgbClr val="1F2937"/>
                </a:solidFill>
                <a:latin typeface="Calibri"/>
              </a:rPr>
              <a:t>Multi-Counter Routing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1000">
                <a:solidFill>
                  <a:srgbClr val="5B6B73"/>
                </a:solidFill>
                <a:latin typeface="Calibri"/>
              </a:rPr>
              <a:t>Each counter pulls only its own next-eligible token, so one busy counter never blocks the others.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5916" y="1371600"/>
            <a:ext cx="2681478" cy="118872"/>
          </a:xfrm>
          <a:prstGeom prst="rect">
            <a:avLst/>
          </a:prstGeom>
          <a:solidFill>
            <a:srgbClr val="C97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3932" y="1591056"/>
            <a:ext cx="502920" cy="365760"/>
          </a:xfrm>
          <a:prstGeom prst="roundRect">
            <a:avLst>
              <a:gd name="adj" fmla="val 30000"/>
            </a:avLst>
          </a:prstGeom>
          <a:solidFill>
            <a:srgbClr val="FF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C97A15"/>
                </a:solidFill>
                <a:latin typeface="Calibri"/>
              </a:rP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0274" y="1371600"/>
            <a:ext cx="2681478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713232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50" b="1">
                <a:solidFill>
                  <a:srgbClr val="1F2937"/>
                </a:solidFill>
                <a:latin typeface="Calibri"/>
              </a:rPr>
              <a:t>Missed-Queue Recovery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1000">
                <a:solidFill>
                  <a:srgbClr val="5B6B73"/>
                </a:solidFill>
                <a:latin typeface="Calibri"/>
              </a:rPr>
              <a:t>Auto-skipped tokens land in a searchable missed queue — requeue to front or reject, never just vanish.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0274" y="1371600"/>
            <a:ext cx="2681478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8290" y="1591056"/>
            <a:ext cx="502920" cy="365760"/>
          </a:xfrm>
          <a:prstGeom prst="roundRect">
            <a:avLst>
              <a:gd name="adj" fmla="val 30000"/>
            </a:avLst>
          </a:prstGeom>
          <a:solidFill>
            <a:srgbClr val="F1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7C3AED"/>
                </a:solidFill>
                <a:latin typeface="Calibri"/>
              </a:rPr>
              <a:t>04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931920"/>
            <a:ext cx="2681478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713232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50" b="1">
                <a:solidFill>
                  <a:srgbClr val="1F2937"/>
                </a:solidFill>
                <a:latin typeface="Calibri"/>
              </a:rPr>
              <a:t>OTP-Gated Registration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1000">
                <a:solidFill>
                  <a:srgbClr val="5B6B73"/>
                </a:solidFill>
                <a:latin typeface="Calibri"/>
              </a:rPr>
              <a:t>Optional phone verification (Twilio Verify / SMS, WhatsApp fallback) required before a token is created.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2681478" cy="1188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4151376"/>
            <a:ext cx="502920" cy="365760"/>
          </a:xfrm>
          <a:prstGeom prst="roundRect">
            <a:avLst>
              <a:gd name="adj" fmla="val 30000"/>
            </a:avLst>
          </a:prstGeom>
          <a:solidFill>
            <a:srgbClr val="DF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05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21558" y="3931920"/>
            <a:ext cx="2681478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713232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50" b="1">
                <a:solidFill>
                  <a:srgbClr val="1F2937"/>
                </a:solidFill>
                <a:latin typeface="Calibri"/>
              </a:rPr>
              <a:t>Consent-Based Records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1000">
                <a:solidFill>
                  <a:srgbClr val="5B6B73"/>
                </a:solidFill>
                <a:latin typeface="Calibri"/>
              </a:rPr>
              <a:t>Patients upload prescriptions and reports; doctors see them only after a consent grant — revocable anytime.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21558" y="3931920"/>
            <a:ext cx="2681478" cy="11887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49574" y="4151376"/>
            <a:ext cx="502920" cy="365760"/>
          </a:xfrm>
          <a:prstGeom prst="roundRect">
            <a:avLst>
              <a:gd name="adj" fmla="val 30000"/>
            </a:avLst>
          </a:prstGeom>
          <a:solidFill>
            <a:srgbClr val="E3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9E5B"/>
                </a:solidFill>
                <a:latin typeface="Calibri"/>
              </a:rPr>
              <a:t>06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3931920"/>
            <a:ext cx="2681478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C97A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713232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50" b="1">
                <a:solidFill>
                  <a:srgbClr val="1F2937"/>
                </a:solidFill>
                <a:latin typeface="Calibri"/>
              </a:rPr>
              <a:t>Doctor Join + QR Access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1000">
                <a:solidFill>
                  <a:srgbClr val="5B6B73"/>
                </a:solidFill>
                <a:latin typeface="Calibri"/>
              </a:rPr>
              <a:t>Doctors join a hospital via a rotating code; access requests are short-lived QR codes claimed on the patient's device.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85916" y="3931920"/>
            <a:ext cx="2681478" cy="118872"/>
          </a:xfrm>
          <a:prstGeom prst="rect">
            <a:avLst/>
          </a:prstGeom>
          <a:solidFill>
            <a:srgbClr val="C97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13932" y="4151376"/>
            <a:ext cx="502920" cy="365760"/>
          </a:xfrm>
          <a:prstGeom prst="roundRect">
            <a:avLst>
              <a:gd name="adj" fmla="val 30000"/>
            </a:avLst>
          </a:prstGeom>
          <a:solidFill>
            <a:srgbClr val="FF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C97A15"/>
                </a:solidFill>
                <a:latin typeface="Calibri"/>
              </a:rPr>
              <a:t>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0274" y="3931920"/>
            <a:ext cx="2681478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713232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50" b="1">
                <a:solidFill>
                  <a:srgbClr val="1F2937"/>
                </a:solidFill>
                <a:latin typeface="Calibri"/>
              </a:rPr>
              <a:t>WhatsApp Provider Failover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1000">
                <a:solidFill>
                  <a:srgbClr val="5B6B73"/>
                </a:solidFill>
                <a:latin typeface="Calibri"/>
              </a:rPr>
              <a:t>Meta Cloud API and Evolution API back each other up, so one outage doesn't silently drop a patient notification.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0274" y="3931920"/>
            <a:ext cx="2681478" cy="1188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78290" y="4151376"/>
            <a:ext cx="502920" cy="365760"/>
          </a:xfrm>
          <a:prstGeom prst="roundRect">
            <a:avLst>
              <a:gd name="adj" fmla="val 30000"/>
            </a:avLst>
          </a:prstGeom>
          <a:solidFill>
            <a:srgbClr val="F1E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7C3AED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FEFEA"/>
                </a:solidFill>
                <a:latin typeface="Calibri"/>
              </a:rPr>
              <a:t>PRD · TECHNICAL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System Architecture — Layered 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60" y="29260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0A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B6B73"/>
                </a:solidFill>
                <a:latin typeface="Calibri"/>
              </a:rPr>
              <a:t>qDischarge · 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47104"/>
            <a:ext cx="34564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qDischarge PRD ·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07008"/>
            <a:ext cx="2681478" cy="749808"/>
          </a:xfrm>
          <a:prstGeom prst="roundRect">
            <a:avLst>
              <a:gd name="adj" fmla="val 35000"/>
            </a:avLst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F6B3A"/>
                </a:solidFill>
                <a:latin typeface="Calibri"/>
              </a:rPr>
              <a:t>Patient</a:t>
            </a:r>
          </a:p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F6B3A"/>
                </a:solidFill>
                <a:latin typeface="Calibri"/>
              </a:rPr>
              <a:t>WhatsApp 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1558" y="1207008"/>
            <a:ext cx="2681478" cy="749808"/>
          </a:xfrm>
          <a:prstGeom prst="roundRect">
            <a:avLst>
              <a:gd name="adj" fmla="val 35000"/>
            </a:avLst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F6B3A"/>
                </a:solidFill>
                <a:latin typeface="Calibri"/>
              </a:rPr>
              <a:t>Patient</a:t>
            </a:r>
          </a:p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F6B3A"/>
                </a:solidFill>
                <a:latin typeface="Calibri"/>
              </a:rPr>
              <a:t>Web / PWA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5916" y="1207008"/>
            <a:ext cx="2681478" cy="749808"/>
          </a:xfrm>
          <a:prstGeom prst="roundRect">
            <a:avLst>
              <a:gd name="adj" fmla="val 35000"/>
            </a:avLst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F6B3A"/>
                </a:solidFill>
                <a:latin typeface="Calibri"/>
              </a:rPr>
              <a:t>Admin</a:t>
            </a:r>
          </a:p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F6B3A"/>
                </a:solidFill>
                <a:latin typeface="Calibri"/>
              </a:rPr>
              <a:t>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0274" y="1207008"/>
            <a:ext cx="2681478" cy="749808"/>
          </a:xfrm>
          <a:prstGeom prst="roundRect">
            <a:avLst>
              <a:gd name="adj" fmla="val 35000"/>
            </a:avLst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F6B3A"/>
                </a:solidFill>
                <a:latin typeface="Calibri"/>
              </a:rPr>
              <a:t>Doctor</a:t>
            </a:r>
          </a:p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F6B3A"/>
                </a:solidFill>
                <a:latin typeface="Calibri"/>
              </a:rPr>
              <a:t>Portal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4476" y="1956816"/>
            <a:ext cx="0" cy="146304"/>
          </a:xfrm>
          <a:prstGeom prst="line">
            <a:avLst/>
          </a:prstGeom>
          <a:ln w="22225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7200" y="2103120"/>
            <a:ext cx="11274552" cy="457200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Spring Boot REST API  ·  JWT Auth  ·  BCrypt  ·  Rate Limiting  ·  CORS Allowlist  ·  Bean Validation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4476" y="2560320"/>
            <a:ext cx="0" cy="146304"/>
          </a:xfrm>
          <a:prstGeom prst="line">
            <a:avLst/>
          </a:prstGeom>
          <a:ln w="22225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57200" y="2706624"/>
            <a:ext cx="11274552" cy="1371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 w="12700">
            <a:solidFill>
              <a:srgbClr val="5B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2633472"/>
            <a:ext cx="1874519" cy="292608"/>
          </a:xfrm>
          <a:prstGeom prst="roundRect">
            <a:avLst>
              <a:gd name="adj" fmla="val 50000"/>
            </a:avLst>
          </a:prstGeom>
          <a:solidFill>
            <a:srgbClr val="5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SERVICE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" y="3035808"/>
            <a:ext cx="2649474" cy="41148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Queue Manager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0994" y="3035808"/>
            <a:ext cx="2649474" cy="41148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Counter</a:t>
            </a:r>
          </a:p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Assignment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8484" y="3035808"/>
            <a:ext cx="2649474" cy="41148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Geo / ETA</a:t>
            </a:r>
          </a:p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Service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5974" y="3035808"/>
            <a:ext cx="2649474" cy="41148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OTP 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3538728"/>
            <a:ext cx="2649474" cy="41148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Access &amp;</a:t>
            </a:r>
          </a:p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Consent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0994" y="3538728"/>
            <a:ext cx="2649474" cy="41148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Doctor Service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8484" y="3538728"/>
            <a:ext cx="2649474" cy="41148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WhatsApp</a:t>
            </a:r>
          </a:p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Dispatcher (Async)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5974" y="3538728"/>
            <a:ext cx="2649474" cy="41148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80" b="1" i="0">
                <a:solidFill>
                  <a:srgbClr val="0A5B63"/>
                </a:solidFill>
                <a:latin typeface="Calibri"/>
              </a:rPr>
              <a:t>DIGIPIN Codec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4476" y="4078224"/>
            <a:ext cx="0" cy="146304"/>
          </a:xfrm>
          <a:prstGeom prst="line">
            <a:avLst/>
          </a:prstGeom>
          <a:ln w="22225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57200" y="4224528"/>
            <a:ext cx="3605784" cy="658368"/>
          </a:xfrm>
          <a:prstGeom prst="roundRect">
            <a:avLst>
              <a:gd name="adj" fmla="val 14000"/>
            </a:avLst>
          </a:prstGeom>
          <a:solidFill>
            <a:srgbClr val="F1E9FB"/>
          </a:solidFill>
          <a:ln w="1397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A2A9E"/>
                </a:solidFill>
                <a:latin typeface="Calibri"/>
              </a:rPr>
              <a:t>Meta WhatsApp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A2A9E"/>
                </a:solidFill>
                <a:latin typeface="Calibri"/>
              </a:rPr>
              <a:t>Cloud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1584" y="4224528"/>
            <a:ext cx="3605784" cy="658368"/>
          </a:xfrm>
          <a:prstGeom prst="roundRect">
            <a:avLst>
              <a:gd name="adj" fmla="val 14000"/>
            </a:avLst>
          </a:prstGeom>
          <a:solidFill>
            <a:srgbClr val="F1E9FB"/>
          </a:solidFill>
          <a:ln w="1397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A2A9E"/>
                </a:solidFill>
                <a:latin typeface="Calibri"/>
              </a:rPr>
              <a:t>Evolution API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A2A9E"/>
                </a:solidFill>
                <a:latin typeface="Calibri"/>
              </a:rPr>
              <a:t>(auto-failover)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25968" y="4224528"/>
            <a:ext cx="3605784" cy="658368"/>
          </a:xfrm>
          <a:prstGeom prst="roundRect">
            <a:avLst>
              <a:gd name="adj" fmla="val 14000"/>
            </a:avLst>
          </a:prstGeom>
          <a:solidFill>
            <a:srgbClr val="FFF1DC"/>
          </a:solidFill>
          <a:ln w="13970">
            <a:solidFill>
              <a:srgbClr val="C97A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8A4A05"/>
                </a:solidFill>
                <a:latin typeface="Calibri"/>
              </a:rPr>
              <a:t>Twilio Verify / SMS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8A4A05"/>
                </a:solidFill>
                <a:latin typeface="Calibri"/>
              </a:rPr>
              <a:t>(OTP delivery)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4476" y="4882896"/>
            <a:ext cx="0" cy="146304"/>
          </a:xfrm>
          <a:prstGeom prst="line">
            <a:avLst/>
          </a:prstGeom>
          <a:ln w="22225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57200" y="5029200"/>
            <a:ext cx="8117677" cy="566928"/>
          </a:xfrm>
          <a:prstGeom prst="roundRect">
            <a:avLst>
              <a:gd name="adj" fmla="val 14000"/>
            </a:avLst>
          </a:prstGeom>
          <a:solidFill>
            <a:srgbClr val="FDEAF3"/>
          </a:solidFill>
          <a:ln w="13970">
            <a:solidFill>
              <a:srgbClr val="C23B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30" b="1" i="0">
                <a:solidFill>
                  <a:srgbClr val="8A2361"/>
                </a:solidFill>
                <a:latin typeface="Calibri"/>
              </a:rPr>
              <a:t>PostgreSQL  ·  Flyway-versioned schema  —  tokens · token_history · hospitals · patients · doctors · access_grants · counters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57757" y="5029200"/>
            <a:ext cx="2973994" cy="566928"/>
          </a:xfrm>
          <a:prstGeom prst="roundRect">
            <a:avLst>
              <a:gd name="adj" fmla="val 14000"/>
            </a:avLst>
          </a:prstGeom>
          <a:solidFill>
            <a:srgbClr val="E7EEFF"/>
          </a:solidFill>
          <a:ln w="1397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980" b="1" i="0">
                <a:solidFill>
                  <a:srgbClr val="1E3A8A"/>
                </a:solidFill>
                <a:latin typeface="Calibri"/>
              </a:rPr>
              <a:t>Docker Compose</a:t>
            </a:r>
          </a:p>
          <a:p>
            <a:pPr algn="ctr">
              <a:lnSpc>
                <a:spcPct val="100000"/>
              </a:lnSpc>
            </a:pPr>
            <a:r>
              <a:rPr sz="980" b="1" i="0">
                <a:solidFill>
                  <a:srgbClr val="1E3A8A"/>
                </a:solidFill>
                <a:latin typeface="Calibri"/>
              </a:rPr>
              <a:t>app + Postgres · HikariCP pool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272784"/>
            <a:ext cx="201168" cy="146304"/>
          </a:xfrm>
          <a:prstGeom prst="roundRect">
            <a:avLst>
              <a:gd name="adj" fmla="val 40000"/>
            </a:avLst>
          </a:prstGeom>
          <a:solidFill>
            <a:srgbClr val="E3F6E8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624992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Client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74519" y="6272784"/>
            <a:ext cx="201168" cy="146304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30552" y="624992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Gateway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91839" y="6272784"/>
            <a:ext cx="201168" cy="146304"/>
          </a:xfrm>
          <a:prstGeom prst="roundRect">
            <a:avLst>
              <a:gd name="adj" fmla="val 40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624992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Service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09159" y="6272784"/>
            <a:ext cx="201168" cy="146304"/>
          </a:xfrm>
          <a:prstGeom prst="roundRect">
            <a:avLst>
              <a:gd name="adj" fmla="val 40000"/>
            </a:avLst>
          </a:prstGeom>
          <a:solidFill>
            <a:srgbClr val="F1E9FB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65192" y="624992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Integration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79" y="6272784"/>
            <a:ext cx="201168" cy="146304"/>
          </a:xfrm>
          <a:prstGeom prst="roundRect">
            <a:avLst>
              <a:gd name="adj" fmla="val 40000"/>
            </a:avLst>
          </a:prstGeom>
          <a:solidFill>
            <a:srgbClr val="FDEAF3"/>
          </a:solidFill>
          <a:ln w="12700">
            <a:solidFill>
              <a:srgbClr val="C23B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624992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FEFEA"/>
                </a:solidFill>
                <a:latin typeface="Calibri"/>
              </a:rPr>
              <a:t>PRD · TECHNICAL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End-to-End Flow — Patient to Completed Visit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60" y="29260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0A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B6B73"/>
                </a:solidFill>
                <a:latin typeface="Calibri"/>
              </a:rPr>
              <a:t>qDischarge · 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47104"/>
            <a:ext cx="34564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qDischarge PRD ·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37360"/>
            <a:ext cx="1143000" cy="502920"/>
          </a:xfrm>
          <a:prstGeom prst="roundRect">
            <a:avLst>
              <a:gd name="adj" fmla="val 50000"/>
            </a:avLst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19" b="1" i="0">
                <a:solidFill>
                  <a:srgbClr val="1F6B3A"/>
                </a:solidFill>
                <a:latin typeface="Calibri"/>
              </a:rPr>
              <a:t>Patient</a:t>
            </a:r>
          </a:p>
        </p:txBody>
      </p:sp>
      <p:sp>
        <p:nvSpPr>
          <p:cNvPr id="11" name="Oval 10"/>
          <p:cNvSpPr/>
          <p:nvPr/>
        </p:nvSpPr>
        <p:spPr>
          <a:xfrm>
            <a:off x="373989" y="1654149"/>
            <a:ext cx="237744" cy="237744"/>
          </a:xfrm>
          <a:prstGeom prst="ellipse">
            <a:avLst/>
          </a:prstGeom>
          <a:solidFill>
            <a:srgbClr val="2E9E5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858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2" name="Oval 11"/>
          <p:cNvSpPr/>
          <p:nvPr/>
        </p:nvSpPr>
        <p:spPr>
          <a:xfrm>
            <a:off x="1828800" y="1554480"/>
            <a:ext cx="1508760" cy="822960"/>
          </a:xfrm>
          <a:prstGeom prst="ellipse">
            <a:avLst/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F6B3A"/>
                </a:solidFill>
                <a:latin typeface="Calibri"/>
              </a:rPr>
              <a:t>WhatsApp session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F6B3A"/>
                </a:solidFill>
                <a:latin typeface="Calibri"/>
              </a:rPr>
              <a:t>starts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691640"/>
            <a:ext cx="1417320" cy="548640"/>
          </a:xfrm>
          <a:prstGeom prst="roundRect">
            <a:avLst/>
          </a:prstGeom>
          <a:solidFill>
            <a:srgbClr val="DFF3F1"/>
          </a:solidFill>
          <a:ln w="1397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0A5B63"/>
                </a:solidFill>
                <a:latin typeface="Calibri"/>
              </a:rPr>
              <a:t>Enter name</a:t>
            </a:r>
          </a:p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0A5B63"/>
                </a:solidFill>
                <a:latin typeface="Calibri"/>
              </a:rPr>
              <a:t>&amp; age</a:t>
            </a:r>
          </a:p>
        </p:txBody>
      </p:sp>
      <p:sp>
        <p:nvSpPr>
          <p:cNvPr id="14" name="Diamond 13"/>
          <p:cNvSpPr/>
          <p:nvPr/>
        </p:nvSpPr>
        <p:spPr>
          <a:xfrm>
            <a:off x="5257800" y="1417320"/>
            <a:ext cx="1371600" cy="1051560"/>
          </a:xfrm>
          <a:prstGeom prst="diamond">
            <a:avLst/>
          </a:prstGeom>
          <a:solidFill>
            <a:srgbClr val="F1E9FB"/>
          </a:solidFill>
          <a:ln w="1397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4C2489"/>
                </a:solidFill>
                <a:latin typeface="Calibri"/>
              </a:rPr>
              <a:t>OTP</a:t>
            </a:r>
          </a:p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4C2489"/>
                </a:solidFill>
                <a:latin typeface="Calibri"/>
              </a:rPr>
              <a:t>required?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1325880"/>
            <a:ext cx="4370832" cy="1783080"/>
          </a:xfrm>
          <a:prstGeom prst="roundRect">
            <a:avLst>
              <a:gd name="adj" fmla="val 5000"/>
            </a:avLst>
          </a:prstGeom>
          <a:solidFill>
            <a:srgbClr val="EEF2F4"/>
          </a:solidFill>
          <a:ln w="12700">
            <a:solidFill>
              <a:srgbClr val="5B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0024" y="1179576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REGISTRATION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0024" y="1709928"/>
            <a:ext cx="1286255" cy="1252728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0A5B63"/>
                </a:solidFill>
                <a:latin typeface="Calibri"/>
              </a:rPr>
              <a:t>Verify OTP</a:t>
            </a:r>
          </a:p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0A5B63"/>
                </a:solidFill>
                <a:latin typeface="Calibri"/>
              </a:rPr>
              <a:t>(if required)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46008" y="1709928"/>
            <a:ext cx="1286255" cy="1252728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0A5B63"/>
                </a:solidFill>
                <a:latin typeface="Calibri"/>
              </a:rPr>
              <a:t>Create token</a:t>
            </a:r>
          </a:p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0A5B63"/>
                </a:solidFill>
                <a:latin typeface="Calibri"/>
              </a:rPr>
              <a:t>(status: waiting)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41991" y="1709928"/>
            <a:ext cx="1286255" cy="1252728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0A5B63"/>
                </a:solidFill>
                <a:latin typeface="Calibri"/>
              </a:rPr>
              <a:t>Assign queue</a:t>
            </a:r>
          </a:p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0A5B63"/>
                </a:solidFill>
                <a:latin typeface="Calibri"/>
              </a:rPr>
              <a:t>position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600200" y="1965960"/>
            <a:ext cx="228600" cy="18288"/>
          </a:xfrm>
          <a:prstGeom prst="line">
            <a:avLst/>
          </a:prstGeom>
          <a:ln w="19050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337560" y="1965960"/>
            <a:ext cx="228600" cy="0"/>
          </a:xfrm>
          <a:prstGeom prst="line">
            <a:avLst/>
          </a:prstGeom>
          <a:ln w="19050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3480" y="1965960"/>
            <a:ext cx="274320" cy="0"/>
          </a:xfrm>
          <a:prstGeom prst="line">
            <a:avLst/>
          </a:prstGeom>
          <a:ln w="19050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29400" y="1938528"/>
            <a:ext cx="274320" cy="164592"/>
          </a:xfrm>
          <a:prstGeom prst="line">
            <a:avLst/>
          </a:prstGeom>
          <a:ln w="19050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0" y="251460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B73"/>
                </a:solidFill>
                <a:latin typeface="Calibri"/>
              </a:rPr>
              <a:t>yes → verify code</a:t>
            </a:r>
          </a:p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B73"/>
                </a:solidFill>
                <a:latin typeface="Calibri"/>
              </a:rPr>
              <a:t>no → skip straight through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931920"/>
            <a:ext cx="4297680" cy="1737360"/>
          </a:xfrm>
          <a:prstGeom prst="roundRect">
            <a:avLst>
              <a:gd name="adj" fmla="val 5000"/>
            </a:avLst>
          </a:prstGeom>
          <a:solidFill>
            <a:srgbClr val="EEF2F4"/>
          </a:solidFill>
          <a:ln w="12700">
            <a:solidFill>
              <a:srgbClr val="5B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3785615"/>
            <a:ext cx="2569464" cy="292608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NOTIFICATION &amp; ARRIVAL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" y="4315968"/>
            <a:ext cx="1261872" cy="1207008"/>
          </a:xfrm>
          <a:prstGeom prst="roundRect">
            <a:avLst>
              <a:gd name="adj" fmla="val 12000"/>
            </a:avLst>
          </a:prstGeom>
          <a:solidFill>
            <a:srgbClr val="E7EEFF"/>
          </a:solidFill>
          <a:ln w="1270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E3A8A"/>
                </a:solidFill>
                <a:latin typeface="Calibri"/>
              </a:rPr>
              <a:t>Share location</a:t>
            </a:r>
          </a:p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E3A8A"/>
                </a:solidFill>
                <a:latin typeface="Calibri"/>
              </a:rPr>
              <a:t>(optional)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75104" y="4315968"/>
            <a:ext cx="1261872" cy="1207008"/>
          </a:xfrm>
          <a:prstGeom prst="roundRect">
            <a:avLst>
              <a:gd name="adj" fmla="val 12000"/>
            </a:avLst>
          </a:prstGeom>
          <a:solidFill>
            <a:srgbClr val="E7EEFF"/>
          </a:solidFill>
          <a:ln w="1270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E3A8A"/>
                </a:solidFill>
                <a:latin typeface="Calibri"/>
              </a:rPr>
              <a:t>Distance → ETA</a:t>
            </a:r>
          </a:p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E3A8A"/>
                </a:solidFill>
                <a:latin typeface="Calibri"/>
              </a:rPr>
              <a:t>computed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46704" y="4315968"/>
            <a:ext cx="1261872" cy="1207008"/>
          </a:xfrm>
          <a:prstGeom prst="roundRect">
            <a:avLst>
              <a:gd name="adj" fmla="val 12000"/>
            </a:avLst>
          </a:prstGeom>
          <a:solidFill>
            <a:srgbClr val="E7EEFF"/>
          </a:solidFill>
          <a:ln w="1270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E3A8A"/>
                </a:solidFill>
                <a:latin typeface="Calibri"/>
              </a:rPr>
              <a:t>Send “leave now”</a:t>
            </a:r>
          </a:p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E3A8A"/>
                </a:solidFill>
                <a:latin typeface="Calibri"/>
              </a:rPr>
              <a:t>@ N tokens ahead</a:t>
            </a:r>
          </a:p>
        </p:txBody>
      </p:sp>
      <p:sp>
        <p:nvSpPr>
          <p:cNvPr id="30" name="Diamond 29"/>
          <p:cNvSpPr/>
          <p:nvPr/>
        </p:nvSpPr>
        <p:spPr>
          <a:xfrm>
            <a:off x="5074920" y="4160520"/>
            <a:ext cx="1508760" cy="1097280"/>
          </a:xfrm>
          <a:prstGeom prst="diamond">
            <a:avLst/>
          </a:prstGeom>
          <a:solidFill>
            <a:srgbClr val="F1E9FB"/>
          </a:solidFill>
          <a:ln w="1397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4C2489"/>
                </a:solidFill>
                <a:latin typeface="Calibri"/>
              </a:rPr>
              <a:t>Checked in via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4C2489"/>
                </a:solidFill>
                <a:latin typeface="Calibri"/>
              </a:rPr>
              <a:t>QR before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4C2489"/>
                </a:solidFill>
                <a:latin typeface="Calibri"/>
              </a:rPr>
              <a:t>turn comes up?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3931920"/>
            <a:ext cx="4370832" cy="1737360"/>
          </a:xfrm>
          <a:prstGeom prst="roundRect">
            <a:avLst>
              <a:gd name="adj" fmla="val 5000"/>
            </a:avLst>
          </a:prstGeom>
          <a:solidFill>
            <a:srgbClr val="EEF2F4"/>
          </a:solidFill>
          <a:ln w="12700">
            <a:solidFill>
              <a:srgbClr val="5B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50024" y="3785615"/>
            <a:ext cx="2359152" cy="29260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SERVING &amp; COMPLETION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50024" y="4315968"/>
            <a:ext cx="1286255" cy="1207008"/>
          </a:xfrm>
          <a:prstGeom prst="roundRect">
            <a:avLst>
              <a:gd name="adj" fmla="val 12000"/>
            </a:avLst>
          </a:prstGeom>
          <a:solidFill>
            <a:srgbClr val="E3F6E8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F6B3A"/>
                </a:solidFill>
                <a:latin typeface="Calibri"/>
              </a:rPr>
              <a:t>Counter calls</a:t>
            </a:r>
          </a:p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F6B3A"/>
                </a:solidFill>
                <a:latin typeface="Calibri"/>
              </a:rPr>
              <a:t>token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46008" y="4315968"/>
            <a:ext cx="1286255" cy="1207008"/>
          </a:xfrm>
          <a:prstGeom prst="roundRect">
            <a:avLst>
              <a:gd name="adj" fmla="val 12000"/>
            </a:avLst>
          </a:prstGeom>
          <a:solidFill>
            <a:srgbClr val="E3F6E8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F6B3A"/>
                </a:solidFill>
                <a:latin typeface="Calibri"/>
              </a:rPr>
              <a:t>Mark status</a:t>
            </a:r>
          </a:p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F6B3A"/>
                </a:solidFill>
                <a:latin typeface="Calibri"/>
              </a:rPr>
              <a:t>serving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41991" y="4315968"/>
            <a:ext cx="1286255" cy="1207008"/>
          </a:xfrm>
          <a:prstGeom prst="roundRect">
            <a:avLst>
              <a:gd name="adj" fmla="val 12000"/>
            </a:avLst>
          </a:prstGeom>
          <a:solidFill>
            <a:srgbClr val="E3F6E8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F6B3A"/>
                </a:solidFill>
                <a:latin typeface="Calibri"/>
              </a:rPr>
              <a:t>Complete → archive</a:t>
            </a:r>
          </a:p>
          <a:p>
            <a:pPr algn="ctr">
              <a:lnSpc>
                <a:spcPct val="95000"/>
              </a:lnSpc>
            </a:pPr>
            <a:r>
              <a:rPr sz="960" b="1" i="0">
                <a:solidFill>
                  <a:srgbClr val="1F6B3A"/>
                </a:solidFill>
                <a:latin typeface="Calibri"/>
              </a:rPr>
              <a:t>to token_history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3273552"/>
            <a:ext cx="777240" cy="347472"/>
          </a:xfrm>
          <a:prstGeom prst="roundRect">
            <a:avLst>
              <a:gd name="adj" fmla="val 50000"/>
            </a:avLst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19" b="1" i="0">
                <a:solidFill>
                  <a:srgbClr val="1F6B3A"/>
                </a:solidFill>
                <a:latin typeface="Calibri"/>
              </a:rPr>
              <a:t>Admin</a:t>
            </a:r>
          </a:p>
        </p:txBody>
      </p:sp>
      <p:sp>
        <p:nvSpPr>
          <p:cNvPr id="37" name="Oval 36"/>
          <p:cNvSpPr/>
          <p:nvPr/>
        </p:nvSpPr>
        <p:spPr>
          <a:xfrm>
            <a:off x="9119311" y="3203143"/>
            <a:ext cx="201168" cy="201168"/>
          </a:xfrm>
          <a:prstGeom prst="ellipse">
            <a:avLst/>
          </a:prstGeom>
          <a:solidFill>
            <a:srgbClr val="2E9E5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726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8" name="Oval 37"/>
          <p:cNvSpPr/>
          <p:nvPr/>
        </p:nvSpPr>
        <p:spPr>
          <a:xfrm>
            <a:off x="10104120" y="3163824"/>
            <a:ext cx="1097280" cy="566928"/>
          </a:xfrm>
          <a:prstGeom prst="ellipse">
            <a:avLst/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90000"/>
              </a:lnSpc>
            </a:pPr>
            <a:r>
              <a:rPr sz="880" b="1" i="0">
                <a:solidFill>
                  <a:srgbClr val="1F6B3A"/>
                </a:solidFill>
                <a:latin typeface="Calibri"/>
              </a:rPr>
              <a:t>Admin login</a:t>
            </a:r>
          </a:p>
          <a:p>
            <a:pPr algn="ctr">
              <a:lnSpc>
                <a:spcPct val="90000"/>
              </a:lnSpc>
            </a:pPr>
            <a:r>
              <a:rPr sz="880" b="1" i="0">
                <a:solidFill>
                  <a:srgbClr val="1F6B3A"/>
                </a:solidFill>
                <a:latin typeface="Calibri"/>
              </a:rPr>
              <a:t>(JWT)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966960" y="3429000"/>
            <a:ext cx="137160" cy="0"/>
          </a:xfrm>
          <a:prstGeom prst="line">
            <a:avLst/>
          </a:prstGeom>
          <a:ln w="15875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652760" y="3730752"/>
            <a:ext cx="0" cy="201168"/>
          </a:xfrm>
          <a:prstGeom prst="line">
            <a:avLst/>
          </a:prstGeom>
          <a:ln w="15875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977639" y="5806440"/>
            <a:ext cx="6035040" cy="457200"/>
          </a:xfrm>
          <a:prstGeom prst="roundRect">
            <a:avLst>
              <a:gd name="adj" fmla="val 40000"/>
            </a:avLst>
          </a:prstGeom>
          <a:solidFill>
            <a:srgbClr val="FFF1DC"/>
          </a:solidFill>
          <a:ln w="13970">
            <a:solidFill>
              <a:srgbClr val="C97A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8A4A05"/>
                </a:solidFill>
                <a:latin typeface="Calibri"/>
              </a:rPr>
              <a:t>No →  Auto-skip to Missed Queue  —  admin requeues to front of line or rejects (JWT-gated)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2606040" y="3108960"/>
            <a:ext cx="6483096" cy="822960"/>
          </a:xfrm>
          <a:prstGeom prst="bentConnector3">
            <a:avLst/>
          </a:prstGeom>
          <a:ln w="22225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754880" y="4709160"/>
            <a:ext cx="320040" cy="91440"/>
          </a:xfrm>
          <a:prstGeom prst="line">
            <a:avLst/>
          </a:prstGeom>
          <a:ln w="19050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583680" y="4709160"/>
            <a:ext cx="320040" cy="91440"/>
          </a:xfrm>
          <a:prstGeom prst="line">
            <a:avLst/>
          </a:prstGeom>
          <a:ln w="19050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33872" y="5257800"/>
            <a:ext cx="1161288" cy="548640"/>
          </a:xfrm>
          <a:prstGeom prst="bentConnector3">
            <a:avLst/>
          </a:prstGeom>
          <a:ln w="19050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291072"/>
            <a:ext cx="112471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5B6B73"/>
                </a:solidFill>
                <a:latin typeface="Calibri"/>
              </a:rPr>
              <a:t>Legend: green = patient touchpoint · teal/cyan = registration &amp; core queue logic · blue = notification engine · purple = decision · amber = exception path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FEFEA"/>
                </a:solidFill>
                <a:latin typeface="Calibri"/>
              </a:rPr>
              <a:t>PRD · TECHNICAL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60" y="29260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0A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B6B73"/>
                </a:solidFill>
                <a:latin typeface="Calibri"/>
              </a:rPr>
              <a:t>qDischarge · 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47104"/>
            <a:ext cx="34564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qDischarge PRD ·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984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3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700784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12" name="Picture 11" descr="ja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247" y="1819655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632" y="2368296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Java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66518" y="1700784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15" name="Picture 14" descr="sp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566" y="1819655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93950" y="2368296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Spring Security /</a:t>
            </a:r>
          </a:p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JDBC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5837" y="1700784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18" name="Picture 17" descr="springbo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5885" y="1819655"/>
            <a:ext cx="512064" cy="512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03269" y="2368296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Spring Boot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724912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C23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3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27248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22" name="Picture 21" descr="postgr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247" y="3246120"/>
            <a:ext cx="512064" cy="5120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4632" y="3794759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PostgreSQL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66518" y="3127248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25" name="Picture 24" descr="fly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6566" y="3246120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893950" y="3794759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Flyway</a:t>
            </a:r>
          </a:p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Migrations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151376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30" b="1" i="0">
                <a:solidFill>
                  <a:srgbClr val="FFFFFF"/>
                </a:solidFill>
                <a:latin typeface="Calibri"/>
              </a:rPr>
              <a:t>AUTH &amp; 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53712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29" name="Picture 28" descr="jw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247" y="4672584"/>
            <a:ext cx="512064" cy="5120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84632" y="5221224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JWT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66518" y="4553712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32" name="Picture 31" descr="letsencryp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6566" y="4672584"/>
            <a:ext cx="512064" cy="51206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893950" y="5221224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TLS / SSL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75837" y="4553712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35" name="Picture 34" descr="owas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55885" y="4672584"/>
            <a:ext cx="512064" cy="51206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303269" y="5221224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OWASP ASVS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1636" y="12984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C97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30" b="1" i="0">
                <a:solidFill>
                  <a:srgbClr val="FFFFFF"/>
                </a:solidFill>
                <a:latin typeface="Calibri"/>
              </a:rPr>
              <a:t>INTEGRATIONS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31636" y="1700784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39" name="Picture 38" descr="whatsap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1683" y="1819655"/>
            <a:ext cx="512064" cy="51206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259068" y="2368296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WhatsApp</a:t>
            </a:r>
          </a:p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Cloud API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40954" y="1700784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42" name="Picture 41" descr="met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21002" y="1819655"/>
            <a:ext cx="512064" cy="51206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668386" y="2368296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Meta for</a:t>
            </a:r>
          </a:p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Developers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31636" y="2724912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3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31636" y="3127248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46" name="Picture 45" descr="reac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1683" y="3246120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259068" y="3794759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React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40954" y="3127248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49" name="Picture 48" descr="axio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21002" y="3246120"/>
            <a:ext cx="512064" cy="51206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668386" y="3794759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Axios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50274" y="3127248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52" name="Picture 51" descr="v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30321" y="3246120"/>
            <a:ext cx="512064" cy="51206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77705" y="3794759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Vite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31636" y="4151376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30" b="1" i="0">
                <a:solidFill>
                  <a:srgbClr val="FFFFFF"/>
                </a:solidFill>
                <a:latin typeface="Calibri"/>
              </a:rPr>
              <a:t>DEVOPS &amp; OPS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31636" y="4553712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56" name="Picture 55" descr="docker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11683" y="4672584"/>
            <a:ext cx="512064" cy="51206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259068" y="5221224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Docker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640954" y="4553712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59" name="Picture 58" descr="maven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21002" y="4672584"/>
            <a:ext cx="512064" cy="51206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668386" y="5221224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Maven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50274" y="4553712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62" name="Picture 61" descr="nginx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430321" y="4672584"/>
            <a:ext cx="512064" cy="51206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077705" y="5221224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Nginx (TLS</a:t>
            </a:r>
          </a:p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proxy)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59592" y="4553712"/>
            <a:ext cx="1272159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pic>
        <p:nvPicPr>
          <p:cNvPr id="65" name="Picture 64" descr="redis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39640" y="4672584"/>
            <a:ext cx="512064" cy="512064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0487024" y="5221224"/>
            <a:ext cx="121729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Redis</a:t>
            </a:r>
          </a:p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(roadmap)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126480"/>
            <a:ext cx="112471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30" b="0" i="1">
                <a:solidFill>
                  <a:srgbClr val="5B6B73"/>
                </a:solidFill>
                <a:latin typeface="Calibri"/>
              </a:rPr>
              <a:t>Also in the stack, without a public brand mark: BCrypt password hashing · Twilio Verify/SMS · ZXing QR generation · HikariCP pooling · Evolution API · a custom CORS allowlist &amp; sliding-window rate limiter.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FEFEA"/>
                </a:solidFill>
                <a:latin typeface="Calibri"/>
              </a:rPr>
              <a:t>PRD · FEASIBILITY &amp; VIABILITY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Security Hardening &amp; Scalability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60" y="29260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0A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B6B73"/>
                </a:solidFill>
                <a:latin typeface="Calibri"/>
              </a:rPr>
              <a:t>qDischarge · 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47104"/>
            <a:ext cx="34564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qDischarge PRD ·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SECURITY HARDENING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27632"/>
            <a:ext cx="5394960" cy="4526280"/>
          </a:xfrm>
          <a:prstGeom prst="roundRect">
            <a:avLst>
              <a:gd name="adj" fmla="val 5000"/>
            </a:avLst>
          </a:prstGeom>
          <a:solidFill>
            <a:srgbClr val="FBF8FF"/>
          </a:solidFill>
          <a:ln w="1397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10512"/>
            <a:ext cx="502920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7C3A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Auth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BCrypt password check + signed, expiring JWTs; no shared static admin token.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7C3A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Passwords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BCrypt hash required in production; plaintext supported only as a dev fallback.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7C3A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Transport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TLS terminated natively or behind a reverse proxy; DB connection uses sslmode=require.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7C3A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CORS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restricted to an explicit ALLOWED_ORIGINS allowlist, never a wildcard.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7C3A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Validation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typed, jakarta-validated request DTOs replace raw untyped request maps.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7C3A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Rate limiting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per-IP sliding window on login, token creation and the WhatsApp webhook.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7C3A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Webhook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its own WEBHOOK_VERIFY_TOKEN secret, separate from admin auth.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34440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SCALABILITY &amp; RELIABILITY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27632"/>
            <a:ext cx="5422392" cy="4526280"/>
          </a:xfrm>
          <a:prstGeom prst="roundRect">
            <a:avLst>
              <a:gd name="adj" fmla="val 5000"/>
            </a:avLst>
          </a:prstGeom>
          <a:solidFill>
            <a:srgbClr val="F2F6FF"/>
          </a:solidFill>
          <a:ln w="1397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5029200" cy="420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2F6F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Async dispatch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WhatsApp sends run on a bounded background pool — never blocks HTTP worker threads.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2F6F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Stateless auth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JWTs carry no server session, so any number of replicas can validate independently.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2F6F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Connection pooling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HikariCP, configurable size, won't block startup if Postgres is briefly unreachable.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2F6F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Versioned schema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Flyway migrations plus indexes on every hot query path (phone, status, created_at).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2F6F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Health probes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liveness vs readiness split, safe for restart policies and load-balancer routing.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2F6F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Provider failover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a failed WhatsApp send automatically retries the second configured provider.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2F6FED"/>
                </a:solidFill>
                <a:latin typeface="Calibri"/>
              </a:rPr>
              <a:t>●  </a:t>
            </a:r>
            <a:r>
              <a:rPr sz="1100" b="1">
                <a:solidFill>
                  <a:srgbClr val="1F2937"/>
                </a:solidFill>
                <a:latin typeface="Calibri"/>
              </a:rPr>
              <a:t>Known limit — </a:t>
            </a:r>
            <a:r>
              <a:rPr sz="1100" b="0">
                <a:solidFill>
                  <a:srgbClr val="1F2937"/>
                </a:solidFill>
                <a:latin typeface="Calibri"/>
              </a:rPr>
              <a:t>the in-memory rate limiter is per-instance; swap for Redis to share it across replicas.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FEFEA"/>
                </a:solidFill>
                <a:latin typeface="Calibri"/>
              </a:rPr>
              <a:t>PRD · IMPACT &amp;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Changes for Everyone in the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60" y="29260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0A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B6B73"/>
                </a:solidFill>
                <a:latin typeface="Calibri"/>
              </a:rPr>
              <a:t>qDischarge · 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47104"/>
            <a:ext cx="34564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qDischarge PRD ·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2667762" cy="1554480"/>
          </a:xfrm>
          <a:prstGeom prst="roundRect">
            <a:avLst>
              <a:gd name="adj" fmla="val 9000"/>
            </a:avLst>
          </a:prstGeom>
          <a:solidFill>
            <a:srgbClr val="DFF3F1"/>
          </a:solidFill>
          <a:ln w="1397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09728" tIns="128016" bIns="36576">
            <a:noAutofit/>
          </a:bodyPr>
          <a:lstStyle/>
          <a:p>
            <a:pPr algn="l">
              <a:lnSpc>
                <a:spcPct val="95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2100" b="1">
                <a:solidFill>
                  <a:srgbClr val="0A5B63"/>
                </a:solidFill>
                <a:latin typeface="Calibri"/>
              </a:rPr>
              <a:t>&lt; 3 min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to register a token over WhatsApp — vs. a front-desk queue to even start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6130" y="1325880"/>
            <a:ext cx="2667762" cy="1554480"/>
          </a:xfrm>
          <a:prstGeom prst="roundRect">
            <a:avLst>
              <a:gd name="adj" fmla="val 9000"/>
            </a:avLst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09728" tIns="128016" bIns="36576">
            <a:noAutofit/>
          </a:bodyPr>
          <a:lstStyle/>
          <a:p>
            <a:pPr algn="l">
              <a:lnSpc>
                <a:spcPct val="95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2100" b="1">
                <a:solidFill>
                  <a:srgbClr val="1F6B3A"/>
                </a:solidFill>
                <a:latin typeface="Calibri"/>
              </a:rPr>
              <a:t>Live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queue position + geo-aware ETA replace guesswork and early arrival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1325880"/>
            <a:ext cx="2667762" cy="1554480"/>
          </a:xfrm>
          <a:prstGeom prst="roundRect">
            <a:avLst>
              <a:gd name="adj" fmla="val 9000"/>
            </a:avLst>
          </a:prstGeom>
          <a:solidFill>
            <a:srgbClr val="F1E9FB"/>
          </a:solidFill>
          <a:ln w="1397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09728" tIns="128016" bIns="36576">
            <a:noAutofit/>
          </a:bodyPr>
          <a:lstStyle/>
          <a:p>
            <a:pPr algn="l">
              <a:lnSpc>
                <a:spcPct val="95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2100" b="1">
                <a:solidFill>
                  <a:srgbClr val="4C2489"/>
                </a:solidFill>
                <a:latin typeface="Calibri"/>
              </a:rPr>
              <a:t>Consent-
gated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record access — a doctor sees nothing until the patient grants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3990" y="1325880"/>
            <a:ext cx="2667762" cy="1554480"/>
          </a:xfrm>
          <a:prstGeom prst="roundRect">
            <a:avLst>
              <a:gd name="adj" fmla="val 9000"/>
            </a:avLst>
          </a:prstGeom>
          <a:solidFill>
            <a:srgbClr val="FFF1DC"/>
          </a:solidFill>
          <a:ln w="13970">
            <a:solidFill>
              <a:srgbClr val="C97A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09728" tIns="128016" bIns="36576">
            <a:noAutofit/>
          </a:bodyPr>
          <a:lstStyle/>
          <a:p>
            <a:pPr algn="l">
              <a:lnSpc>
                <a:spcPct val="95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2100" b="1">
                <a:solidFill>
                  <a:srgbClr val="8A4A05"/>
                </a:solidFill>
                <a:latin typeface="Calibri"/>
              </a:rPr>
              <a:t>Multi-
hospital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directory model — the same backend scales past a single OPD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004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WHO BENEFITS, AND HOW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5394960" cy="2651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19" b="1">
                <a:solidFill>
                  <a:srgbClr val="0E7C86"/>
                </a:solidFill>
                <a:latin typeface="Calibri"/>
              </a:rPr>
              <a:t>●  </a:t>
            </a:r>
            <a:r>
              <a:rPr sz="1120" b="1">
                <a:solidFill>
                  <a:srgbClr val="1F2937"/>
                </a:solidFill>
                <a:latin typeface="Calibri"/>
              </a:rPr>
              <a:t>Patients — </a:t>
            </a:r>
            <a:r>
              <a:rPr sz="1120" b="0">
                <a:solidFill>
                  <a:srgbClr val="1F2937"/>
                </a:solidFill>
                <a:latin typeface="Calibri"/>
              </a:rPr>
              <a:t>wait off-site, get a timely nudge, and keep one visit history instead of paper carried between visits.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19" b="1">
                <a:solidFill>
                  <a:srgbClr val="0E7C86"/>
                </a:solidFill>
                <a:latin typeface="Calibri"/>
              </a:rPr>
              <a:t>●  </a:t>
            </a:r>
            <a:r>
              <a:rPr sz="1120" b="1">
                <a:solidFill>
                  <a:srgbClr val="1F2937"/>
                </a:solidFill>
                <a:latin typeface="Calibri"/>
              </a:rPr>
              <a:t>Front-desk staff — </a:t>
            </a:r>
            <a:r>
              <a:rPr sz="1120" b="0">
                <a:solidFill>
                  <a:srgbClr val="1F2937"/>
                </a:solidFill>
                <a:latin typeface="Calibri"/>
              </a:rPr>
              <a:t>spend less time re-keying details and manually chasing missed patients back into line.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19" b="1">
                <a:solidFill>
                  <a:srgbClr val="0E7C86"/>
                </a:solidFill>
                <a:latin typeface="Calibri"/>
              </a:rPr>
              <a:t>●  </a:t>
            </a:r>
            <a:r>
              <a:rPr sz="1120" b="1">
                <a:solidFill>
                  <a:srgbClr val="1F2937"/>
                </a:solidFill>
                <a:latin typeface="Calibri"/>
              </a:rPr>
              <a:t>Doctors — </a:t>
            </a:r>
            <a:r>
              <a:rPr sz="1120" b="0">
                <a:solidFill>
                  <a:srgbClr val="1F2937"/>
                </a:solidFill>
                <a:latin typeface="Calibri"/>
              </a:rPr>
              <a:t>get instant, consented access to prior prescriptions/reports without the patient re-bringing them.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19" b="1">
                <a:solidFill>
                  <a:srgbClr val="0E7C86"/>
                </a:solidFill>
                <a:latin typeface="Calibri"/>
              </a:rPr>
              <a:t>●  </a:t>
            </a:r>
            <a:r>
              <a:rPr sz="1120" b="1">
                <a:solidFill>
                  <a:srgbClr val="1F2937"/>
                </a:solidFill>
                <a:latin typeface="Calibri"/>
              </a:rPr>
              <a:t>Hospital administration — </a:t>
            </a:r>
            <a:r>
              <a:rPr sz="1120" b="0">
                <a:solidFill>
                  <a:srgbClr val="1F2937"/>
                </a:solidFill>
                <a:latin typeface="Calibri"/>
              </a:rPr>
              <a:t>a live counter board, missed-queue recovery, and per-hospital analytics on one platform.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200400"/>
            <a:ext cx="5422392" cy="30632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18900000"/>
          </a:gra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56032" tIns="182880" bIns="182880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350" i="1">
                <a:solidFill>
                  <a:srgbClr val="FFFFFF"/>
                </a:solidFill>
                <a:latin typeface="Calibri"/>
              </a:rPr>
              <a:t>The bottleneck in outpatient care is rarely the doctor's time — it's the queue built around not knowing when to show up, and the record left behind at the last visit. Fixing both on a channel patients already have (WhatsApp) is what makes qDischarge adoptable on day one, not after 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0A5B63"/>
              </a:gs>
              <a:gs pos="100000">
                <a:srgbClr val="0E7C8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FEFEA"/>
                </a:solidFill>
                <a:latin typeface="Calibri"/>
              </a:rPr>
              <a:t>PRD · ROADMAP &amp;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What's Next, and What This Is Built 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60" y="29260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0A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B6B73"/>
                </a:solidFill>
                <a:latin typeface="Calibri"/>
              </a:rPr>
              <a:t>qDischarge · 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47104"/>
            <a:ext cx="34564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B73"/>
                </a:solidFill>
                <a:latin typeface="Calibri"/>
              </a:rPr>
              <a:t>qDischarge PRD ·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11" name="Oval 10"/>
          <p:cNvSpPr/>
          <p:nvPr/>
        </p:nvSpPr>
        <p:spPr>
          <a:xfrm>
            <a:off x="2116836" y="1691640"/>
            <a:ext cx="256032" cy="256032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2868" y="1819656"/>
            <a:ext cx="3593592" cy="0"/>
          </a:xfrm>
          <a:prstGeom prst="line">
            <a:avLst/>
          </a:prstGeom>
          <a:ln w="19050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" y="2148840"/>
            <a:ext cx="3575304" cy="2331720"/>
          </a:xfrm>
          <a:prstGeom prst="roundRect">
            <a:avLst>
              <a:gd name="adj" fmla="val 7000"/>
            </a:avLst>
          </a:prstGeom>
          <a:solidFill>
            <a:srgbClr val="E3F6E8"/>
          </a:solidFill>
          <a:ln w="1397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2801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200" b="1">
                <a:solidFill>
                  <a:srgbClr val="1F6B3A"/>
                </a:solidFill>
                <a:latin typeface="Calibri"/>
              </a:rPr>
              <a:t>NOW — Hardened Core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JWT + BCrypt auth, rate limiting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Geo-ETA, multi-counter routing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OTP-gated registration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Consent-based patient records</a:t>
            </a:r>
          </a:p>
        </p:txBody>
      </p:sp>
      <p:sp>
        <p:nvSpPr>
          <p:cNvPr id="14" name="Oval 13"/>
          <p:cNvSpPr/>
          <p:nvPr/>
        </p:nvSpPr>
        <p:spPr>
          <a:xfrm>
            <a:off x="5966460" y="1691640"/>
            <a:ext cx="256032" cy="25603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22492" y="1819656"/>
            <a:ext cx="3593592" cy="0"/>
          </a:xfrm>
          <a:prstGeom prst="line">
            <a:avLst/>
          </a:prstGeom>
          <a:ln w="19050">
            <a:solidFill>
              <a:srgbClr val="5B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06824" y="2148840"/>
            <a:ext cx="3575304" cy="2331720"/>
          </a:xfrm>
          <a:prstGeom prst="roundRect">
            <a:avLst>
              <a:gd name="adj" fmla="val 7000"/>
            </a:avLst>
          </a:prstGeom>
          <a:solidFill>
            <a:srgbClr val="DFF3F1"/>
          </a:solidFill>
          <a:ln w="1397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2801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200" b="1">
                <a:solidFill>
                  <a:srgbClr val="0A5B63"/>
                </a:solidFill>
                <a:latin typeface="Calibri"/>
              </a:rPr>
              <a:t>NEXT — Frontend Parity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UI for hospitals / geo / counters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Missed-queue admin screens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Doctor portal for record access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Redis-backed rate limiter</a:t>
            </a:r>
          </a:p>
        </p:txBody>
      </p:sp>
      <p:sp>
        <p:nvSpPr>
          <p:cNvPr id="17" name="Oval 16"/>
          <p:cNvSpPr/>
          <p:nvPr/>
        </p:nvSpPr>
        <p:spPr>
          <a:xfrm>
            <a:off x="9816084" y="1691640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8" y="2148840"/>
            <a:ext cx="3575304" cy="2331720"/>
          </a:xfrm>
          <a:prstGeom prst="roundRect">
            <a:avLst>
              <a:gd name="adj" fmla="val 7000"/>
            </a:avLst>
          </a:prstGeom>
          <a:solidFill>
            <a:srgbClr val="F1E9FB"/>
          </a:solidFill>
          <a:ln w="1397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2801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  <a:r>
              <a:rPr sz="1200" b="1">
                <a:solidFill>
                  <a:srgbClr val="4C2489"/>
                </a:solidFill>
                <a:latin typeface="Calibri"/>
              </a:rPr>
              <a:t>LATER — Platform Scale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Multi-hospital self-serve onboarding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Analytics dashboards per hospital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SMS/voice channel fallback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030">
                <a:solidFill>
                  <a:srgbClr val="1F2937"/>
                </a:solidFill>
                <a:latin typeface="Calibri"/>
              </a:rPr>
              <a:t>›  Field-level record encryption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9204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5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REFERENCES &amp; FOUNDATIONS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900" b="1">
                <a:solidFill>
                  <a:srgbClr val="5B6B73"/>
                </a:solidFill>
                <a:latin typeface="Calibri"/>
              </a:rPr>
              <a:t>●  </a:t>
            </a:r>
            <a:r>
              <a:rPr sz="1000" b="0">
                <a:solidFill>
                  <a:srgbClr val="1F2937"/>
                </a:solidFill>
                <a:latin typeface="Calibri"/>
              </a:rPr>
              <a:t>qDischarge README &amp; configuration — this repository (Spring Boot port, hardening notes).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900" b="1">
                <a:solidFill>
                  <a:srgbClr val="5B6B73"/>
                </a:solidFill>
                <a:latin typeface="Calibri"/>
              </a:rPr>
              <a:t>●  </a:t>
            </a:r>
            <a:r>
              <a:rPr sz="1000" b="0">
                <a:solidFill>
                  <a:srgbClr val="1F2937"/>
                </a:solidFill>
                <a:latin typeface="Calibri"/>
              </a:rPr>
              <a:t>DIGIPIN — India Post's open geo-coding scheme, used for hospital location and patient ETA.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900" b="1">
                <a:solidFill>
                  <a:srgbClr val="5B6B73"/>
                </a:solidFill>
                <a:latin typeface="Calibri"/>
              </a:rPr>
              <a:t>●  </a:t>
            </a:r>
            <a:r>
              <a:rPr sz="1000" b="0">
                <a:solidFill>
                  <a:srgbClr val="1F2937"/>
                </a:solidFill>
                <a:latin typeface="Calibri"/>
              </a:rPr>
              <a:t>Meta WhatsApp Cloud API &amp; Evolution API — messaging providers, with automatic failover.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900" b="1">
                <a:solidFill>
                  <a:srgbClr val="5B6B73"/>
                </a:solidFill>
                <a:latin typeface="Calibri"/>
              </a:rPr>
              <a:t>●  </a:t>
            </a:r>
            <a:r>
              <a:rPr sz="1000" b="0">
                <a:solidFill>
                  <a:srgbClr val="1F2937"/>
                </a:solidFill>
                <a:latin typeface="Calibri"/>
              </a:rPr>
              <a:t>Twilio Verify / Programmable SMS — OTP delivery, with WhatsApp fallback on send failure.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900" b="1">
                <a:solidFill>
                  <a:srgbClr val="5B6B73"/>
                </a:solidFill>
                <a:latin typeface="Calibri"/>
              </a:rPr>
              <a:t>●  </a:t>
            </a:r>
            <a:r>
              <a:rPr sz="1000" b="0">
                <a:solidFill>
                  <a:srgbClr val="1F2937"/>
                </a:solidFill>
                <a:latin typeface="Calibri"/>
              </a:rPr>
              <a:t>OWASP ASVS — reference checklist behind the auth, validation and rate-limiting choices.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